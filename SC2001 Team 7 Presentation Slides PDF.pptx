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ody Grotesque Bold" charset="1" panose="02000503040000020004"/>
      <p:regular r:id="rId20"/>
    </p:embeddedFont>
    <p:embeddedFont>
      <p:font typeface="Body Grotesque" charset="1" panose="02000503040000020004"/>
      <p:regular r:id="rId21"/>
    </p:embeddedFont>
    <p:embeddedFont>
      <p:font typeface="Body Grotesque Italics" charset="1" panose="02000503040000020004"/>
      <p:regular r:id="rId22"/>
    </p:embeddedFont>
    <p:embeddedFont>
      <p:font typeface="Canva Sans Bold" charset="1" panose="020B0803030501040103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77017" y="1670047"/>
            <a:ext cx="7582283" cy="7334135"/>
          </a:xfrm>
          <a:custGeom>
            <a:avLst/>
            <a:gdLst/>
            <a:ahLst/>
            <a:cxnLst/>
            <a:rect r="r" b="b" t="t" l="l"/>
            <a:pathLst>
              <a:path h="7334135" w="7582283">
                <a:moveTo>
                  <a:pt x="0" y="0"/>
                </a:moveTo>
                <a:lnTo>
                  <a:pt x="7582283" y="0"/>
                </a:lnTo>
                <a:lnTo>
                  <a:pt x="7582283" y="7334135"/>
                </a:lnTo>
                <a:lnTo>
                  <a:pt x="0" y="7334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69710" y="7750697"/>
            <a:ext cx="1819732" cy="1863786"/>
          </a:xfrm>
          <a:custGeom>
            <a:avLst/>
            <a:gdLst/>
            <a:ahLst/>
            <a:cxnLst/>
            <a:rect r="r" b="b" t="t" l="l"/>
            <a:pathLst>
              <a:path h="1863786" w="1819732">
                <a:moveTo>
                  <a:pt x="0" y="0"/>
                </a:moveTo>
                <a:lnTo>
                  <a:pt x="1819733" y="0"/>
                </a:lnTo>
                <a:lnTo>
                  <a:pt x="1819733" y="1863785"/>
                </a:lnTo>
                <a:lnTo>
                  <a:pt x="0" y="186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5804140"/>
            <a:ext cx="6501050" cy="2793536"/>
            <a:chOff x="0" y="0"/>
            <a:chExt cx="8668066" cy="372471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05421"/>
              <a:ext cx="8668066" cy="3619294"/>
              <a:chOff x="0" y="0"/>
              <a:chExt cx="2202815" cy="91977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202816" cy="919771"/>
              </a:xfrm>
              <a:custGeom>
                <a:avLst/>
                <a:gdLst/>
                <a:ahLst/>
                <a:cxnLst/>
                <a:rect r="r" b="b" t="t" l="l"/>
                <a:pathLst>
                  <a:path h="919771" w="2202816">
                    <a:moveTo>
                      <a:pt x="36100" y="0"/>
                    </a:moveTo>
                    <a:lnTo>
                      <a:pt x="2166715" y="0"/>
                    </a:lnTo>
                    <a:cubicBezTo>
                      <a:pt x="2186653" y="0"/>
                      <a:pt x="2202816" y="16163"/>
                      <a:pt x="2202816" y="36100"/>
                    </a:cubicBezTo>
                    <a:lnTo>
                      <a:pt x="2202816" y="883671"/>
                    </a:lnTo>
                    <a:cubicBezTo>
                      <a:pt x="2202816" y="903609"/>
                      <a:pt x="2186653" y="919771"/>
                      <a:pt x="2166715" y="919771"/>
                    </a:cubicBezTo>
                    <a:lnTo>
                      <a:pt x="36100" y="919771"/>
                    </a:lnTo>
                    <a:cubicBezTo>
                      <a:pt x="16163" y="919771"/>
                      <a:pt x="0" y="903609"/>
                      <a:pt x="0" y="883671"/>
                    </a:cubicBezTo>
                    <a:lnTo>
                      <a:pt x="0" y="36100"/>
                    </a:lnTo>
                    <a:cubicBezTo>
                      <a:pt x="0" y="16163"/>
                      <a:pt x="16163" y="0"/>
                      <a:pt x="36100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202815" cy="95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8668066" cy="3619294"/>
              <a:chOff x="0" y="0"/>
              <a:chExt cx="2202815" cy="91977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202816" cy="919771"/>
              </a:xfrm>
              <a:custGeom>
                <a:avLst/>
                <a:gdLst/>
                <a:ahLst/>
                <a:cxnLst/>
                <a:rect r="r" b="b" t="t" l="l"/>
                <a:pathLst>
                  <a:path h="919771" w="2202816">
                    <a:moveTo>
                      <a:pt x="36100" y="0"/>
                    </a:moveTo>
                    <a:lnTo>
                      <a:pt x="2166715" y="0"/>
                    </a:lnTo>
                    <a:cubicBezTo>
                      <a:pt x="2186653" y="0"/>
                      <a:pt x="2202816" y="16163"/>
                      <a:pt x="2202816" y="36100"/>
                    </a:cubicBezTo>
                    <a:lnTo>
                      <a:pt x="2202816" y="883671"/>
                    </a:lnTo>
                    <a:cubicBezTo>
                      <a:pt x="2202816" y="903609"/>
                      <a:pt x="2186653" y="919771"/>
                      <a:pt x="2166715" y="919771"/>
                    </a:cubicBezTo>
                    <a:lnTo>
                      <a:pt x="36100" y="919771"/>
                    </a:lnTo>
                    <a:cubicBezTo>
                      <a:pt x="16163" y="919771"/>
                      <a:pt x="0" y="903609"/>
                      <a:pt x="0" y="883671"/>
                    </a:cubicBezTo>
                    <a:lnTo>
                      <a:pt x="0" y="36100"/>
                    </a:lnTo>
                    <a:cubicBezTo>
                      <a:pt x="0" y="16163"/>
                      <a:pt x="16163" y="0"/>
                      <a:pt x="36100" y="0"/>
                    </a:cubicBezTo>
                    <a:close/>
                  </a:path>
                </a:pathLst>
              </a:custGeom>
              <a:solidFill>
                <a:srgbClr val="C0DB4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202815" cy="957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1" id="11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804282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true" flipV="false" rot="0">
            <a:off x="13468159" y="8315148"/>
            <a:ext cx="706507" cy="943152"/>
          </a:xfrm>
          <a:custGeom>
            <a:avLst/>
            <a:gdLst/>
            <a:ahLst/>
            <a:cxnLst/>
            <a:rect r="r" b="b" t="t" l="l"/>
            <a:pathLst>
              <a:path h="943152" w="706507">
                <a:moveTo>
                  <a:pt x="706506" y="0"/>
                </a:moveTo>
                <a:lnTo>
                  <a:pt x="0" y="0"/>
                </a:lnTo>
                <a:lnTo>
                  <a:pt x="0" y="943152"/>
                </a:lnTo>
                <a:lnTo>
                  <a:pt x="706506" y="943152"/>
                </a:lnTo>
                <a:lnTo>
                  <a:pt x="7065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623031">
            <a:off x="9575670" y="1224688"/>
            <a:ext cx="1105262" cy="1044975"/>
          </a:xfrm>
          <a:custGeom>
            <a:avLst/>
            <a:gdLst/>
            <a:ahLst/>
            <a:cxnLst/>
            <a:rect r="r" b="b" t="t" l="l"/>
            <a:pathLst>
              <a:path h="1044975" w="1105262">
                <a:moveTo>
                  <a:pt x="0" y="0"/>
                </a:moveTo>
                <a:lnTo>
                  <a:pt x="1105262" y="0"/>
                </a:lnTo>
                <a:lnTo>
                  <a:pt x="1105262" y="1044975"/>
                </a:lnTo>
                <a:lnTo>
                  <a:pt x="0" y="1044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017470" y="7750697"/>
            <a:ext cx="1293534" cy="1128903"/>
          </a:xfrm>
          <a:custGeom>
            <a:avLst/>
            <a:gdLst/>
            <a:ahLst/>
            <a:cxnLst/>
            <a:rect r="r" b="b" t="t" l="l"/>
            <a:pathLst>
              <a:path h="1128903" w="1293534">
                <a:moveTo>
                  <a:pt x="0" y="0"/>
                </a:moveTo>
                <a:lnTo>
                  <a:pt x="1293535" y="0"/>
                </a:lnTo>
                <a:lnTo>
                  <a:pt x="1293535" y="1128902"/>
                </a:lnTo>
                <a:lnTo>
                  <a:pt x="0" y="1128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797277">
            <a:off x="16648518" y="1827191"/>
            <a:ext cx="862117" cy="1423917"/>
          </a:xfrm>
          <a:custGeom>
            <a:avLst/>
            <a:gdLst/>
            <a:ahLst/>
            <a:cxnLst/>
            <a:rect r="r" b="b" t="t" l="l"/>
            <a:pathLst>
              <a:path h="1423917" w="862117">
                <a:moveTo>
                  <a:pt x="0" y="0"/>
                </a:moveTo>
                <a:lnTo>
                  <a:pt x="862117" y="0"/>
                </a:lnTo>
                <a:lnTo>
                  <a:pt x="862117" y="1423917"/>
                </a:lnTo>
                <a:lnTo>
                  <a:pt x="0" y="1423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2441296"/>
            <a:ext cx="11323167" cy="306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0"/>
              </a:lnSpc>
            </a:pPr>
            <a:r>
              <a:rPr lang="en-US" sz="12770" spc="-319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SC2001 : L</a:t>
            </a:r>
            <a:r>
              <a:rPr lang="en-US" b="true" sz="12770" spc="-319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ab 1 Hybrid Sort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6825" y="6077289"/>
            <a:ext cx="6757926" cy="26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51"/>
              </a:lnSpc>
            </a:pPr>
            <a:r>
              <a:rPr lang="en-US" b="true" sz="3169" spc="-79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Presented by</a:t>
            </a:r>
          </a:p>
          <a:p>
            <a:pPr algn="l" marL="684224" indent="-342112" lvl="1">
              <a:lnSpc>
                <a:spcPts val="4151"/>
              </a:lnSpc>
              <a:buFont typeface="Arial"/>
              <a:buChar char="•"/>
            </a:pPr>
            <a:r>
              <a:rPr lang="en-US" sz="3169" spc="-79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Raj Yash</a:t>
            </a:r>
          </a:p>
          <a:p>
            <a:pPr algn="l" marL="684224" indent="-342112" lvl="1">
              <a:lnSpc>
                <a:spcPts val="4151"/>
              </a:lnSpc>
              <a:buFont typeface="Arial"/>
              <a:buChar char="•"/>
            </a:pPr>
            <a:r>
              <a:rPr lang="en-US" sz="3169" spc="-79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Ramachandran Saichandar</a:t>
            </a:r>
          </a:p>
          <a:p>
            <a:pPr algn="l" marL="684224" indent="-342112" lvl="1">
              <a:lnSpc>
                <a:spcPts val="4151"/>
              </a:lnSpc>
              <a:buFont typeface="Arial"/>
              <a:buChar char="•"/>
            </a:pPr>
            <a:r>
              <a:rPr lang="en-US" sz="3169" spc="-79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Rane Shruti Devendra</a:t>
            </a:r>
          </a:p>
          <a:p>
            <a:pPr algn="just">
              <a:lnSpc>
                <a:spcPts val="4151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225332"/>
            <a:ext cx="7463388" cy="4103652"/>
            <a:chOff x="0" y="0"/>
            <a:chExt cx="9951184" cy="547153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54861"/>
              <a:ext cx="9951184" cy="5316675"/>
              <a:chOff x="0" y="0"/>
              <a:chExt cx="1965666" cy="105020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65666" cy="1050207"/>
              </a:xfrm>
              <a:custGeom>
                <a:avLst/>
                <a:gdLst/>
                <a:ahLst/>
                <a:cxnLst/>
                <a:rect r="r" b="b" t="t" l="l"/>
                <a:pathLst>
                  <a:path h="1050207" w="1965666">
                    <a:moveTo>
                      <a:pt x="40455" y="0"/>
                    </a:moveTo>
                    <a:lnTo>
                      <a:pt x="1925211" y="0"/>
                    </a:lnTo>
                    <a:cubicBezTo>
                      <a:pt x="1947554" y="0"/>
                      <a:pt x="1965666" y="18113"/>
                      <a:pt x="1965666" y="40455"/>
                    </a:cubicBezTo>
                    <a:lnTo>
                      <a:pt x="1965666" y="1009752"/>
                    </a:lnTo>
                    <a:cubicBezTo>
                      <a:pt x="1965666" y="1032095"/>
                      <a:pt x="1947554" y="1050207"/>
                      <a:pt x="1925211" y="1050207"/>
                    </a:cubicBezTo>
                    <a:lnTo>
                      <a:pt x="40455" y="1050207"/>
                    </a:lnTo>
                    <a:cubicBezTo>
                      <a:pt x="18113" y="1050207"/>
                      <a:pt x="0" y="1032095"/>
                      <a:pt x="0" y="1009752"/>
                    </a:cubicBezTo>
                    <a:lnTo>
                      <a:pt x="0" y="40455"/>
                    </a:lnTo>
                    <a:cubicBezTo>
                      <a:pt x="0" y="18113"/>
                      <a:pt x="18113" y="0"/>
                      <a:pt x="40455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965666" cy="10883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9951184" cy="5316675"/>
              <a:chOff x="0" y="0"/>
              <a:chExt cx="1965666" cy="105020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65666" cy="1050207"/>
              </a:xfrm>
              <a:custGeom>
                <a:avLst/>
                <a:gdLst/>
                <a:ahLst/>
                <a:cxnLst/>
                <a:rect r="r" b="b" t="t" l="l"/>
                <a:pathLst>
                  <a:path h="1050207" w="1965666">
                    <a:moveTo>
                      <a:pt x="40455" y="0"/>
                    </a:moveTo>
                    <a:lnTo>
                      <a:pt x="1925211" y="0"/>
                    </a:lnTo>
                    <a:cubicBezTo>
                      <a:pt x="1947554" y="0"/>
                      <a:pt x="1965666" y="18113"/>
                      <a:pt x="1965666" y="40455"/>
                    </a:cubicBezTo>
                    <a:lnTo>
                      <a:pt x="1965666" y="1009752"/>
                    </a:lnTo>
                    <a:cubicBezTo>
                      <a:pt x="1965666" y="1032095"/>
                      <a:pt x="1947554" y="1050207"/>
                      <a:pt x="1925211" y="1050207"/>
                    </a:cubicBezTo>
                    <a:lnTo>
                      <a:pt x="40455" y="1050207"/>
                    </a:lnTo>
                    <a:cubicBezTo>
                      <a:pt x="18113" y="1050207"/>
                      <a:pt x="0" y="1032095"/>
                      <a:pt x="0" y="1009752"/>
                    </a:cubicBezTo>
                    <a:lnTo>
                      <a:pt x="0" y="40455"/>
                    </a:lnTo>
                    <a:cubicBezTo>
                      <a:pt x="0" y="18113"/>
                      <a:pt x="18113" y="0"/>
                      <a:pt x="40455" y="0"/>
                    </a:cubicBezTo>
                    <a:close/>
                  </a:path>
                </a:pathLst>
              </a:custGeom>
              <a:solidFill>
                <a:srgbClr val="C0DB4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965666" cy="10883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9" id="9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0" y="9804282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1623031">
            <a:off x="516074" y="2893068"/>
            <a:ext cx="1025252" cy="969329"/>
          </a:xfrm>
          <a:custGeom>
            <a:avLst/>
            <a:gdLst/>
            <a:ahLst/>
            <a:cxnLst/>
            <a:rect r="r" b="b" t="t" l="l"/>
            <a:pathLst>
              <a:path h="969329" w="1025252">
                <a:moveTo>
                  <a:pt x="0" y="0"/>
                </a:moveTo>
                <a:lnTo>
                  <a:pt x="1025252" y="0"/>
                </a:lnTo>
                <a:lnTo>
                  <a:pt x="1025252" y="969329"/>
                </a:lnTo>
                <a:lnTo>
                  <a:pt x="0" y="969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750829"/>
            <a:ext cx="16341220" cy="127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6"/>
              </a:lnSpc>
            </a:pPr>
            <a:r>
              <a:rPr lang="en-US" sz="10270" spc="-256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Why Hybridize Merge Sort?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9601" y="3503165"/>
            <a:ext cx="6698779" cy="3512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200" spc="-80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Merge Sort</a:t>
            </a:r>
          </a:p>
          <a:p>
            <a:pPr algn="l" marL="561345" indent="-280673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D</a:t>
            </a: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ivide the array into two halves</a:t>
            </a:r>
          </a:p>
          <a:p>
            <a:pPr algn="l" marL="561345" indent="-280673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Recursively sort both halves</a:t>
            </a:r>
          </a:p>
          <a:p>
            <a:pPr algn="l" marL="561345" indent="-280673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Merge the sorted halves</a:t>
            </a:r>
          </a:p>
          <a:p>
            <a:pPr algn="l" marL="561345" indent="-280673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Time complexity: Θ(n log n)</a:t>
            </a:r>
          </a:p>
          <a:p>
            <a:pPr algn="l" marL="561345" indent="-280673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Efficient and predictable for large datasets</a:t>
            </a:r>
          </a:p>
          <a:p>
            <a:pPr algn="l" marL="561345" indent="-280673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Weakness: recursion + merging small subarrays adds overhead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7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59762" y="3225332"/>
            <a:ext cx="7647087" cy="4103652"/>
            <a:chOff x="0" y="0"/>
            <a:chExt cx="10196116" cy="547153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154861"/>
              <a:ext cx="10196116" cy="5316675"/>
              <a:chOff x="0" y="0"/>
              <a:chExt cx="2014048" cy="105020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014048" cy="1050207"/>
              </a:xfrm>
              <a:custGeom>
                <a:avLst/>
                <a:gdLst/>
                <a:ahLst/>
                <a:cxnLst/>
                <a:rect r="r" b="b" t="t" l="l"/>
                <a:pathLst>
                  <a:path h="1050207" w="2014048">
                    <a:moveTo>
                      <a:pt x="39484" y="0"/>
                    </a:moveTo>
                    <a:lnTo>
                      <a:pt x="1974564" y="0"/>
                    </a:lnTo>
                    <a:cubicBezTo>
                      <a:pt x="1985036" y="0"/>
                      <a:pt x="1995078" y="4160"/>
                      <a:pt x="2002483" y="11564"/>
                    </a:cubicBezTo>
                    <a:cubicBezTo>
                      <a:pt x="2009888" y="18969"/>
                      <a:pt x="2014048" y="29012"/>
                      <a:pt x="2014048" y="39484"/>
                    </a:cubicBezTo>
                    <a:lnTo>
                      <a:pt x="2014048" y="1010724"/>
                    </a:lnTo>
                    <a:cubicBezTo>
                      <a:pt x="2014048" y="1032530"/>
                      <a:pt x="1996370" y="1050207"/>
                      <a:pt x="1974564" y="1050207"/>
                    </a:cubicBezTo>
                    <a:lnTo>
                      <a:pt x="39484" y="1050207"/>
                    </a:lnTo>
                    <a:cubicBezTo>
                      <a:pt x="29012" y="1050207"/>
                      <a:pt x="18969" y="1046048"/>
                      <a:pt x="11564" y="1038643"/>
                    </a:cubicBezTo>
                    <a:cubicBezTo>
                      <a:pt x="4160" y="1031238"/>
                      <a:pt x="0" y="1021196"/>
                      <a:pt x="0" y="1010724"/>
                    </a:cubicBezTo>
                    <a:lnTo>
                      <a:pt x="0" y="39484"/>
                    </a:lnTo>
                    <a:cubicBezTo>
                      <a:pt x="0" y="29012"/>
                      <a:pt x="4160" y="18969"/>
                      <a:pt x="11564" y="11564"/>
                    </a:cubicBezTo>
                    <a:cubicBezTo>
                      <a:pt x="18969" y="4160"/>
                      <a:pt x="29012" y="0"/>
                      <a:pt x="39484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014048" cy="10883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10196116" cy="5316675"/>
              <a:chOff x="0" y="0"/>
              <a:chExt cx="2014048" cy="105020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14048" cy="1050207"/>
              </a:xfrm>
              <a:custGeom>
                <a:avLst/>
                <a:gdLst/>
                <a:ahLst/>
                <a:cxnLst/>
                <a:rect r="r" b="b" t="t" l="l"/>
                <a:pathLst>
                  <a:path h="1050207" w="2014048">
                    <a:moveTo>
                      <a:pt x="39484" y="0"/>
                    </a:moveTo>
                    <a:lnTo>
                      <a:pt x="1974564" y="0"/>
                    </a:lnTo>
                    <a:cubicBezTo>
                      <a:pt x="1985036" y="0"/>
                      <a:pt x="1995078" y="4160"/>
                      <a:pt x="2002483" y="11564"/>
                    </a:cubicBezTo>
                    <a:cubicBezTo>
                      <a:pt x="2009888" y="18969"/>
                      <a:pt x="2014048" y="29012"/>
                      <a:pt x="2014048" y="39484"/>
                    </a:cubicBezTo>
                    <a:lnTo>
                      <a:pt x="2014048" y="1010724"/>
                    </a:lnTo>
                    <a:cubicBezTo>
                      <a:pt x="2014048" y="1032530"/>
                      <a:pt x="1996370" y="1050207"/>
                      <a:pt x="1974564" y="1050207"/>
                    </a:cubicBezTo>
                    <a:lnTo>
                      <a:pt x="39484" y="1050207"/>
                    </a:lnTo>
                    <a:cubicBezTo>
                      <a:pt x="29012" y="1050207"/>
                      <a:pt x="18969" y="1046048"/>
                      <a:pt x="11564" y="1038643"/>
                    </a:cubicBezTo>
                    <a:cubicBezTo>
                      <a:pt x="4160" y="1031238"/>
                      <a:pt x="0" y="1021196"/>
                      <a:pt x="0" y="1010724"/>
                    </a:cubicBezTo>
                    <a:lnTo>
                      <a:pt x="0" y="39484"/>
                    </a:lnTo>
                    <a:cubicBezTo>
                      <a:pt x="0" y="29012"/>
                      <a:pt x="4160" y="18969"/>
                      <a:pt x="11564" y="11564"/>
                    </a:cubicBezTo>
                    <a:cubicBezTo>
                      <a:pt x="18969" y="4160"/>
                      <a:pt x="29012" y="0"/>
                      <a:pt x="39484" y="0"/>
                    </a:cubicBezTo>
                    <a:close/>
                  </a:path>
                </a:pathLst>
              </a:custGeom>
              <a:solidFill>
                <a:srgbClr val="C0DB41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2014048" cy="10883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22" id="22"/>
          <p:cNvSpPr/>
          <p:nvPr/>
        </p:nvSpPr>
        <p:spPr>
          <a:xfrm flipH="false" flipV="false" rot="0">
            <a:off x="16588382" y="2982826"/>
            <a:ext cx="1115087" cy="1488587"/>
          </a:xfrm>
          <a:custGeom>
            <a:avLst/>
            <a:gdLst/>
            <a:ahLst/>
            <a:cxnLst/>
            <a:rect r="r" b="b" t="t" l="l"/>
            <a:pathLst>
              <a:path h="1488587" w="1115087">
                <a:moveTo>
                  <a:pt x="0" y="0"/>
                </a:moveTo>
                <a:lnTo>
                  <a:pt x="1115087" y="0"/>
                </a:lnTo>
                <a:lnTo>
                  <a:pt x="1115087" y="1488587"/>
                </a:lnTo>
                <a:lnTo>
                  <a:pt x="0" y="1488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795912" y="3503165"/>
            <a:ext cx="6863659" cy="3083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200" spc="-80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Insertion Sort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Build a so</a:t>
            </a: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rted portion one element at a time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Insert each new element into its correct position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Time complexity: Θ(n²)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Simple control flow with low overhead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Strength: efficient for small subarrays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992725" y="7742262"/>
            <a:ext cx="10302550" cy="1515393"/>
            <a:chOff x="0" y="0"/>
            <a:chExt cx="13736733" cy="2020524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57187"/>
              <a:ext cx="13736733" cy="1963337"/>
              <a:chOff x="0" y="0"/>
              <a:chExt cx="2713429" cy="38782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713429" cy="387820"/>
              </a:xfrm>
              <a:custGeom>
                <a:avLst/>
                <a:gdLst/>
                <a:ahLst/>
                <a:cxnLst/>
                <a:rect r="r" b="b" t="t" l="l"/>
                <a:pathLst>
                  <a:path h="387820" w="2713429">
                    <a:moveTo>
                      <a:pt x="29307" y="0"/>
                    </a:moveTo>
                    <a:lnTo>
                      <a:pt x="2684122" y="0"/>
                    </a:lnTo>
                    <a:cubicBezTo>
                      <a:pt x="2691895" y="0"/>
                      <a:pt x="2699349" y="3088"/>
                      <a:pt x="2704845" y="8584"/>
                    </a:cubicBezTo>
                    <a:cubicBezTo>
                      <a:pt x="2710341" y="14080"/>
                      <a:pt x="2713429" y="21534"/>
                      <a:pt x="2713429" y="29307"/>
                    </a:cubicBezTo>
                    <a:lnTo>
                      <a:pt x="2713429" y="358513"/>
                    </a:lnTo>
                    <a:cubicBezTo>
                      <a:pt x="2713429" y="366285"/>
                      <a:pt x="2710341" y="373740"/>
                      <a:pt x="2704845" y="379236"/>
                    </a:cubicBezTo>
                    <a:cubicBezTo>
                      <a:pt x="2699349" y="384732"/>
                      <a:pt x="2691895" y="387820"/>
                      <a:pt x="2684122" y="387820"/>
                    </a:cubicBezTo>
                    <a:lnTo>
                      <a:pt x="29307" y="387820"/>
                    </a:lnTo>
                    <a:cubicBezTo>
                      <a:pt x="13121" y="387820"/>
                      <a:pt x="0" y="374699"/>
                      <a:pt x="0" y="358513"/>
                    </a:cubicBezTo>
                    <a:lnTo>
                      <a:pt x="0" y="29307"/>
                    </a:lnTo>
                    <a:cubicBezTo>
                      <a:pt x="0" y="21534"/>
                      <a:pt x="3088" y="14080"/>
                      <a:pt x="8584" y="8584"/>
                    </a:cubicBezTo>
                    <a:cubicBezTo>
                      <a:pt x="14080" y="3088"/>
                      <a:pt x="21534" y="0"/>
                      <a:pt x="29307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713429" cy="4259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13736733" cy="1963337"/>
              <a:chOff x="0" y="0"/>
              <a:chExt cx="2713429" cy="38782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713429" cy="387820"/>
              </a:xfrm>
              <a:custGeom>
                <a:avLst/>
                <a:gdLst/>
                <a:ahLst/>
                <a:cxnLst/>
                <a:rect r="r" b="b" t="t" l="l"/>
                <a:pathLst>
                  <a:path h="387820" w="2713429">
                    <a:moveTo>
                      <a:pt x="29307" y="0"/>
                    </a:moveTo>
                    <a:lnTo>
                      <a:pt x="2684122" y="0"/>
                    </a:lnTo>
                    <a:cubicBezTo>
                      <a:pt x="2691895" y="0"/>
                      <a:pt x="2699349" y="3088"/>
                      <a:pt x="2704845" y="8584"/>
                    </a:cubicBezTo>
                    <a:cubicBezTo>
                      <a:pt x="2710341" y="14080"/>
                      <a:pt x="2713429" y="21534"/>
                      <a:pt x="2713429" y="29307"/>
                    </a:cubicBezTo>
                    <a:lnTo>
                      <a:pt x="2713429" y="358513"/>
                    </a:lnTo>
                    <a:cubicBezTo>
                      <a:pt x="2713429" y="366285"/>
                      <a:pt x="2710341" y="373740"/>
                      <a:pt x="2704845" y="379236"/>
                    </a:cubicBezTo>
                    <a:cubicBezTo>
                      <a:pt x="2699349" y="384732"/>
                      <a:pt x="2691895" y="387820"/>
                      <a:pt x="2684122" y="387820"/>
                    </a:cubicBezTo>
                    <a:lnTo>
                      <a:pt x="29307" y="387820"/>
                    </a:lnTo>
                    <a:cubicBezTo>
                      <a:pt x="13121" y="387820"/>
                      <a:pt x="0" y="374699"/>
                      <a:pt x="0" y="358513"/>
                    </a:cubicBezTo>
                    <a:lnTo>
                      <a:pt x="0" y="29307"/>
                    </a:lnTo>
                    <a:cubicBezTo>
                      <a:pt x="0" y="21534"/>
                      <a:pt x="3088" y="14080"/>
                      <a:pt x="8584" y="8584"/>
                    </a:cubicBezTo>
                    <a:cubicBezTo>
                      <a:pt x="14080" y="3088"/>
                      <a:pt x="21534" y="0"/>
                      <a:pt x="29307" y="0"/>
                    </a:cubicBezTo>
                    <a:close/>
                  </a:path>
                </a:pathLst>
              </a:custGeom>
              <a:solidFill>
                <a:srgbClr val="C0DB41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713429" cy="4259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31" id="31"/>
          <p:cNvSpPr txBox="true"/>
          <p:nvPr/>
        </p:nvSpPr>
        <p:spPr>
          <a:xfrm rot="0">
            <a:off x="4289194" y="8020095"/>
            <a:ext cx="9709611" cy="84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b="true" sz="2600" spc="-65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Hybr</a:t>
            </a:r>
            <a:r>
              <a:rPr lang="en-US" b="true" sz="2600" spc="-65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id idea</a:t>
            </a:r>
          </a:p>
          <a:p>
            <a:pPr algn="l">
              <a:lnSpc>
                <a:spcPts val="3406"/>
              </a:lnSpc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Merge Sort for large subarrays → Insertion Sort for small subarrays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5096" y="4929932"/>
            <a:ext cx="7463388" cy="3076459"/>
            <a:chOff x="0" y="0"/>
            <a:chExt cx="1965666" cy="810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666" cy="810261"/>
            </a:xfrm>
            <a:custGeom>
              <a:avLst/>
              <a:gdLst/>
              <a:ahLst/>
              <a:cxnLst/>
              <a:rect r="r" b="b" t="t" l="l"/>
              <a:pathLst>
                <a:path h="810261" w="1965666">
                  <a:moveTo>
                    <a:pt x="40455" y="0"/>
                  </a:moveTo>
                  <a:lnTo>
                    <a:pt x="1925211" y="0"/>
                  </a:lnTo>
                  <a:cubicBezTo>
                    <a:pt x="1947554" y="0"/>
                    <a:pt x="1965666" y="18113"/>
                    <a:pt x="1965666" y="40455"/>
                  </a:cubicBezTo>
                  <a:lnTo>
                    <a:pt x="1965666" y="769805"/>
                  </a:lnTo>
                  <a:cubicBezTo>
                    <a:pt x="1965666" y="792148"/>
                    <a:pt x="1947554" y="810261"/>
                    <a:pt x="1925211" y="810261"/>
                  </a:cubicBezTo>
                  <a:lnTo>
                    <a:pt x="40455" y="810261"/>
                  </a:lnTo>
                  <a:cubicBezTo>
                    <a:pt x="18113" y="810261"/>
                    <a:pt x="0" y="792148"/>
                    <a:pt x="0" y="769805"/>
                  </a:cubicBezTo>
                  <a:lnTo>
                    <a:pt x="0" y="40455"/>
                  </a:lnTo>
                  <a:cubicBezTo>
                    <a:pt x="0" y="18113"/>
                    <a:pt x="18113" y="0"/>
                    <a:pt x="40455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666" cy="848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5096" y="4840323"/>
            <a:ext cx="7463388" cy="3076459"/>
            <a:chOff x="0" y="0"/>
            <a:chExt cx="1965666" cy="8102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5666" cy="810261"/>
            </a:xfrm>
            <a:custGeom>
              <a:avLst/>
              <a:gdLst/>
              <a:ahLst/>
              <a:cxnLst/>
              <a:rect r="r" b="b" t="t" l="l"/>
              <a:pathLst>
                <a:path h="810261" w="1965666">
                  <a:moveTo>
                    <a:pt x="40455" y="0"/>
                  </a:moveTo>
                  <a:lnTo>
                    <a:pt x="1925211" y="0"/>
                  </a:lnTo>
                  <a:cubicBezTo>
                    <a:pt x="1947554" y="0"/>
                    <a:pt x="1965666" y="18113"/>
                    <a:pt x="1965666" y="40455"/>
                  </a:cubicBezTo>
                  <a:lnTo>
                    <a:pt x="1965666" y="769805"/>
                  </a:lnTo>
                  <a:cubicBezTo>
                    <a:pt x="1965666" y="792148"/>
                    <a:pt x="1947554" y="810261"/>
                    <a:pt x="1925211" y="810261"/>
                  </a:cubicBezTo>
                  <a:lnTo>
                    <a:pt x="40455" y="810261"/>
                  </a:lnTo>
                  <a:cubicBezTo>
                    <a:pt x="18113" y="810261"/>
                    <a:pt x="0" y="792148"/>
                    <a:pt x="0" y="769805"/>
                  </a:cubicBezTo>
                  <a:lnTo>
                    <a:pt x="0" y="40455"/>
                  </a:lnTo>
                  <a:cubicBezTo>
                    <a:pt x="0" y="18113"/>
                    <a:pt x="18113" y="0"/>
                    <a:pt x="40455" y="0"/>
                  </a:cubicBezTo>
                  <a:close/>
                </a:path>
              </a:pathLst>
            </a:custGeom>
            <a:solidFill>
              <a:srgbClr val="C0DB4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65666" cy="848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1623031">
            <a:off x="632470" y="4508058"/>
            <a:ext cx="1025252" cy="969329"/>
          </a:xfrm>
          <a:custGeom>
            <a:avLst/>
            <a:gdLst/>
            <a:ahLst/>
            <a:cxnLst/>
            <a:rect r="r" b="b" t="t" l="l"/>
            <a:pathLst>
              <a:path h="969329" w="1025252">
                <a:moveTo>
                  <a:pt x="0" y="0"/>
                </a:moveTo>
                <a:lnTo>
                  <a:pt x="1025252" y="0"/>
                </a:lnTo>
                <a:lnTo>
                  <a:pt x="1025252" y="969329"/>
                </a:lnTo>
                <a:lnTo>
                  <a:pt x="0" y="969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576159" y="4929932"/>
            <a:ext cx="7647087" cy="3076459"/>
            <a:chOff x="0" y="0"/>
            <a:chExt cx="2014048" cy="8102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4048" cy="810261"/>
            </a:xfrm>
            <a:custGeom>
              <a:avLst/>
              <a:gdLst/>
              <a:ahLst/>
              <a:cxnLst/>
              <a:rect r="r" b="b" t="t" l="l"/>
              <a:pathLst>
                <a:path h="810261" w="2014048">
                  <a:moveTo>
                    <a:pt x="39484" y="0"/>
                  </a:moveTo>
                  <a:lnTo>
                    <a:pt x="1974564" y="0"/>
                  </a:lnTo>
                  <a:cubicBezTo>
                    <a:pt x="1985036" y="0"/>
                    <a:pt x="1995078" y="4160"/>
                    <a:pt x="2002483" y="11564"/>
                  </a:cubicBezTo>
                  <a:cubicBezTo>
                    <a:pt x="2009888" y="18969"/>
                    <a:pt x="2014048" y="29012"/>
                    <a:pt x="2014048" y="39484"/>
                  </a:cubicBezTo>
                  <a:lnTo>
                    <a:pt x="2014048" y="770777"/>
                  </a:lnTo>
                  <a:cubicBezTo>
                    <a:pt x="2014048" y="781249"/>
                    <a:pt x="2009888" y="791292"/>
                    <a:pt x="2002483" y="798696"/>
                  </a:cubicBezTo>
                  <a:cubicBezTo>
                    <a:pt x="1995078" y="806101"/>
                    <a:pt x="1985036" y="810261"/>
                    <a:pt x="1974564" y="810261"/>
                  </a:cubicBezTo>
                  <a:lnTo>
                    <a:pt x="39484" y="810261"/>
                  </a:lnTo>
                  <a:cubicBezTo>
                    <a:pt x="17677" y="810261"/>
                    <a:pt x="0" y="792583"/>
                    <a:pt x="0" y="770777"/>
                  </a:cubicBezTo>
                  <a:lnTo>
                    <a:pt x="0" y="39484"/>
                  </a:lnTo>
                  <a:cubicBezTo>
                    <a:pt x="0" y="29012"/>
                    <a:pt x="4160" y="18969"/>
                    <a:pt x="11564" y="11564"/>
                  </a:cubicBezTo>
                  <a:cubicBezTo>
                    <a:pt x="18969" y="4160"/>
                    <a:pt x="29012" y="0"/>
                    <a:pt x="39484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14048" cy="848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76159" y="4840323"/>
            <a:ext cx="7647087" cy="3076459"/>
            <a:chOff x="0" y="0"/>
            <a:chExt cx="2014048" cy="8102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4048" cy="810261"/>
            </a:xfrm>
            <a:custGeom>
              <a:avLst/>
              <a:gdLst/>
              <a:ahLst/>
              <a:cxnLst/>
              <a:rect r="r" b="b" t="t" l="l"/>
              <a:pathLst>
                <a:path h="810261" w="2014048">
                  <a:moveTo>
                    <a:pt x="39484" y="0"/>
                  </a:moveTo>
                  <a:lnTo>
                    <a:pt x="1974564" y="0"/>
                  </a:lnTo>
                  <a:cubicBezTo>
                    <a:pt x="1985036" y="0"/>
                    <a:pt x="1995078" y="4160"/>
                    <a:pt x="2002483" y="11564"/>
                  </a:cubicBezTo>
                  <a:cubicBezTo>
                    <a:pt x="2009888" y="18969"/>
                    <a:pt x="2014048" y="29012"/>
                    <a:pt x="2014048" y="39484"/>
                  </a:cubicBezTo>
                  <a:lnTo>
                    <a:pt x="2014048" y="770777"/>
                  </a:lnTo>
                  <a:cubicBezTo>
                    <a:pt x="2014048" y="781249"/>
                    <a:pt x="2009888" y="791292"/>
                    <a:pt x="2002483" y="798696"/>
                  </a:cubicBezTo>
                  <a:cubicBezTo>
                    <a:pt x="1995078" y="806101"/>
                    <a:pt x="1985036" y="810261"/>
                    <a:pt x="1974564" y="810261"/>
                  </a:cubicBezTo>
                  <a:lnTo>
                    <a:pt x="39484" y="810261"/>
                  </a:lnTo>
                  <a:cubicBezTo>
                    <a:pt x="17677" y="810261"/>
                    <a:pt x="0" y="792583"/>
                    <a:pt x="0" y="770777"/>
                  </a:cubicBezTo>
                  <a:lnTo>
                    <a:pt x="0" y="39484"/>
                  </a:lnTo>
                  <a:cubicBezTo>
                    <a:pt x="0" y="29012"/>
                    <a:pt x="4160" y="18969"/>
                    <a:pt x="11564" y="11564"/>
                  </a:cubicBezTo>
                  <a:cubicBezTo>
                    <a:pt x="18969" y="4160"/>
                    <a:pt x="29012" y="0"/>
                    <a:pt x="39484" y="0"/>
                  </a:cubicBezTo>
                  <a:close/>
                </a:path>
              </a:pathLst>
            </a:custGeom>
            <a:solidFill>
              <a:srgbClr val="C0DB4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14048" cy="848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0" y="9804282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972298" y="3041155"/>
            <a:ext cx="14343403" cy="1515393"/>
            <a:chOff x="0" y="0"/>
            <a:chExt cx="19124538" cy="202052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57187"/>
              <a:ext cx="19124538" cy="1963337"/>
              <a:chOff x="0" y="0"/>
              <a:chExt cx="3777687" cy="38782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777686" cy="387820"/>
              </a:xfrm>
              <a:custGeom>
                <a:avLst/>
                <a:gdLst/>
                <a:ahLst/>
                <a:cxnLst/>
                <a:rect r="r" b="b" t="t" l="l"/>
                <a:pathLst>
                  <a:path h="387820" w="3777686">
                    <a:moveTo>
                      <a:pt x="21050" y="0"/>
                    </a:moveTo>
                    <a:lnTo>
                      <a:pt x="3756636" y="0"/>
                    </a:lnTo>
                    <a:cubicBezTo>
                      <a:pt x="3762219" y="0"/>
                      <a:pt x="3767573" y="2218"/>
                      <a:pt x="3771521" y="6166"/>
                    </a:cubicBezTo>
                    <a:cubicBezTo>
                      <a:pt x="3775469" y="10113"/>
                      <a:pt x="3777686" y="15468"/>
                      <a:pt x="3777686" y="21050"/>
                    </a:cubicBezTo>
                    <a:lnTo>
                      <a:pt x="3777686" y="366769"/>
                    </a:lnTo>
                    <a:cubicBezTo>
                      <a:pt x="3777686" y="372352"/>
                      <a:pt x="3775469" y="377706"/>
                      <a:pt x="3771521" y="381654"/>
                    </a:cubicBezTo>
                    <a:cubicBezTo>
                      <a:pt x="3767573" y="385602"/>
                      <a:pt x="3762219" y="387820"/>
                      <a:pt x="3756636" y="387820"/>
                    </a:cubicBezTo>
                    <a:lnTo>
                      <a:pt x="21050" y="387820"/>
                    </a:lnTo>
                    <a:cubicBezTo>
                      <a:pt x="15468" y="387820"/>
                      <a:pt x="10113" y="385602"/>
                      <a:pt x="6166" y="381654"/>
                    </a:cubicBezTo>
                    <a:cubicBezTo>
                      <a:pt x="2218" y="377706"/>
                      <a:pt x="0" y="372352"/>
                      <a:pt x="0" y="366769"/>
                    </a:cubicBezTo>
                    <a:lnTo>
                      <a:pt x="0" y="21050"/>
                    </a:lnTo>
                    <a:cubicBezTo>
                      <a:pt x="0" y="15468"/>
                      <a:pt x="2218" y="10113"/>
                      <a:pt x="6166" y="6166"/>
                    </a:cubicBezTo>
                    <a:cubicBezTo>
                      <a:pt x="10113" y="2218"/>
                      <a:pt x="15468" y="0"/>
                      <a:pt x="21050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3777687" cy="4259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19124538" cy="1963337"/>
              <a:chOff x="0" y="0"/>
              <a:chExt cx="3777687" cy="38782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777686" cy="387820"/>
              </a:xfrm>
              <a:custGeom>
                <a:avLst/>
                <a:gdLst/>
                <a:ahLst/>
                <a:cxnLst/>
                <a:rect r="r" b="b" t="t" l="l"/>
                <a:pathLst>
                  <a:path h="387820" w="3777686">
                    <a:moveTo>
                      <a:pt x="21050" y="0"/>
                    </a:moveTo>
                    <a:lnTo>
                      <a:pt x="3756636" y="0"/>
                    </a:lnTo>
                    <a:cubicBezTo>
                      <a:pt x="3762219" y="0"/>
                      <a:pt x="3767573" y="2218"/>
                      <a:pt x="3771521" y="6166"/>
                    </a:cubicBezTo>
                    <a:cubicBezTo>
                      <a:pt x="3775469" y="10113"/>
                      <a:pt x="3777686" y="15468"/>
                      <a:pt x="3777686" y="21050"/>
                    </a:cubicBezTo>
                    <a:lnTo>
                      <a:pt x="3777686" y="366769"/>
                    </a:lnTo>
                    <a:cubicBezTo>
                      <a:pt x="3777686" y="372352"/>
                      <a:pt x="3775469" y="377706"/>
                      <a:pt x="3771521" y="381654"/>
                    </a:cubicBezTo>
                    <a:cubicBezTo>
                      <a:pt x="3767573" y="385602"/>
                      <a:pt x="3762219" y="387820"/>
                      <a:pt x="3756636" y="387820"/>
                    </a:cubicBezTo>
                    <a:lnTo>
                      <a:pt x="21050" y="387820"/>
                    </a:lnTo>
                    <a:cubicBezTo>
                      <a:pt x="15468" y="387820"/>
                      <a:pt x="10113" y="385602"/>
                      <a:pt x="6166" y="381654"/>
                    </a:cubicBezTo>
                    <a:cubicBezTo>
                      <a:pt x="2218" y="377706"/>
                      <a:pt x="0" y="372352"/>
                      <a:pt x="0" y="366769"/>
                    </a:cubicBezTo>
                    <a:lnTo>
                      <a:pt x="0" y="21050"/>
                    </a:lnTo>
                    <a:cubicBezTo>
                      <a:pt x="0" y="15468"/>
                      <a:pt x="2218" y="10113"/>
                      <a:pt x="6166" y="6166"/>
                    </a:cubicBezTo>
                    <a:cubicBezTo>
                      <a:pt x="10113" y="2218"/>
                      <a:pt x="15468" y="0"/>
                      <a:pt x="21050" y="0"/>
                    </a:cubicBezTo>
                    <a:close/>
                  </a:path>
                </a:pathLst>
              </a:custGeom>
              <a:solidFill>
                <a:srgbClr val="C0DB41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777687" cy="4259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550333" y="379969"/>
              <a:ext cx="18023871" cy="1123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06"/>
                </a:lnSpc>
              </a:pPr>
              <a:r>
                <a:rPr lang="en-US" b="true" sz="2600" spc="-65">
                  <a:solidFill>
                    <a:srgbClr val="2E2E2E"/>
                  </a:solidFill>
                  <a:latin typeface="Body Grotesque Bold"/>
                  <a:ea typeface="Body Grotesque Bold"/>
                  <a:cs typeface="Body Grotesque Bold"/>
                  <a:sym typeface="Body Grotesque Bold"/>
                </a:rPr>
                <a:t>Hybr</a:t>
              </a:r>
              <a:r>
                <a:rPr lang="en-US" b="true" sz="2600" spc="-65">
                  <a:solidFill>
                    <a:srgbClr val="2E2E2E"/>
                  </a:solidFill>
                  <a:latin typeface="Body Grotesque Bold"/>
                  <a:ea typeface="Body Grotesque Bold"/>
                  <a:cs typeface="Body Grotesque Bold"/>
                  <a:sym typeface="Body Grotesque Bold"/>
                </a:rPr>
                <a:t>id rule</a:t>
              </a:r>
            </a:p>
            <a:p>
              <a:pPr algn="ctr">
                <a:lnSpc>
                  <a:spcPts val="3406"/>
                </a:lnSpc>
              </a:pPr>
              <a:r>
                <a:rPr lang="en-US" sz="2600" spc="-65">
                  <a:solidFill>
                    <a:srgbClr val="2E2E2E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If </a:t>
              </a:r>
              <a:r>
                <a:rPr lang="en-US" sz="2600" i="true" spc="-65">
                  <a:solidFill>
                    <a:srgbClr val="2E2E2E"/>
                  </a:solidFill>
                  <a:latin typeface="Body Grotesque Italics"/>
                  <a:ea typeface="Body Grotesque Italics"/>
                  <a:cs typeface="Body Grotesque Italics"/>
                  <a:sym typeface="Body Grotesque Italics"/>
                </a:rPr>
                <a:t>subarray size &gt; S</a:t>
              </a:r>
              <a:r>
                <a:rPr lang="en-US" sz="2600" spc="-65">
                  <a:solidFill>
                    <a:srgbClr val="2E2E2E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 → continue </a:t>
              </a:r>
              <a:r>
                <a:rPr lang="en-US" sz="2600" i="true" spc="-65">
                  <a:solidFill>
                    <a:srgbClr val="2E2E2E"/>
                  </a:solidFill>
                  <a:latin typeface="Body Grotesque Italics"/>
                  <a:ea typeface="Body Grotesque Italics"/>
                  <a:cs typeface="Body Grotesque Italics"/>
                  <a:sym typeface="Body Grotesque Italics"/>
                </a:rPr>
                <a:t>Merge Sort</a:t>
              </a:r>
              <a:r>
                <a:rPr lang="en-US" sz="2600" spc="-65">
                  <a:solidFill>
                    <a:srgbClr val="2E2E2E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 | If </a:t>
              </a:r>
              <a:r>
                <a:rPr lang="en-US" sz="2600" i="true" spc="-65">
                  <a:solidFill>
                    <a:srgbClr val="2E2E2E"/>
                  </a:solidFill>
                  <a:latin typeface="Body Grotesque Italics"/>
                  <a:ea typeface="Body Grotesque Italics"/>
                  <a:cs typeface="Body Grotesque Italics"/>
                  <a:sym typeface="Body Grotesque Italics"/>
                </a:rPr>
                <a:t>subarray size ≤ S</a:t>
              </a:r>
              <a:r>
                <a:rPr lang="en-US" sz="2600" spc="-65">
                  <a:solidFill>
                    <a:srgbClr val="2E2E2E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 → switch to </a:t>
              </a:r>
              <a:r>
                <a:rPr lang="en-US" sz="2600" i="true" spc="-65">
                  <a:solidFill>
                    <a:srgbClr val="2E2E2E"/>
                  </a:solidFill>
                  <a:latin typeface="Body Grotesque Italics"/>
                  <a:ea typeface="Body Grotesque Italics"/>
                  <a:cs typeface="Body Grotesque Italics"/>
                  <a:sym typeface="Body Grotesque Italics"/>
                </a:rPr>
                <a:t>Insertion Sort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166594" y="4950115"/>
            <a:ext cx="4356165" cy="2145307"/>
          </a:xfrm>
          <a:custGeom>
            <a:avLst/>
            <a:gdLst/>
            <a:ahLst/>
            <a:cxnLst/>
            <a:rect r="r" b="b" t="t" l="l"/>
            <a:pathLst>
              <a:path h="2145307" w="4356165">
                <a:moveTo>
                  <a:pt x="0" y="0"/>
                </a:moveTo>
                <a:lnTo>
                  <a:pt x="4356165" y="0"/>
                </a:lnTo>
                <a:lnTo>
                  <a:pt x="4356165" y="2145307"/>
                </a:lnTo>
                <a:lnTo>
                  <a:pt x="0" y="2145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793524" y="4876644"/>
            <a:ext cx="4311427" cy="1958155"/>
          </a:xfrm>
          <a:custGeom>
            <a:avLst/>
            <a:gdLst/>
            <a:ahLst/>
            <a:cxnLst/>
            <a:rect r="r" b="b" t="t" l="l"/>
            <a:pathLst>
              <a:path h="1958155" w="4311427">
                <a:moveTo>
                  <a:pt x="0" y="0"/>
                </a:moveTo>
                <a:lnTo>
                  <a:pt x="4311428" y="0"/>
                </a:lnTo>
                <a:lnTo>
                  <a:pt x="4311428" y="1958155"/>
                </a:lnTo>
                <a:lnTo>
                  <a:pt x="0" y="19581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735998" y="5118156"/>
            <a:ext cx="6698779" cy="5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200" spc="-80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Effect of small 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12308" y="5118156"/>
            <a:ext cx="6863659" cy="5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200" spc="-80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Effect of large 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6704778" y="4597816"/>
            <a:ext cx="1115087" cy="1488587"/>
          </a:xfrm>
          <a:custGeom>
            <a:avLst/>
            <a:gdLst/>
            <a:ahLst/>
            <a:cxnLst/>
            <a:rect r="r" b="b" t="t" l="l"/>
            <a:pathLst>
              <a:path h="1488587" w="1115087">
                <a:moveTo>
                  <a:pt x="0" y="0"/>
                </a:moveTo>
                <a:lnTo>
                  <a:pt x="1115087" y="0"/>
                </a:lnTo>
                <a:lnTo>
                  <a:pt x="1115087" y="1488588"/>
                </a:lnTo>
                <a:lnTo>
                  <a:pt x="0" y="148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28700" y="1750829"/>
            <a:ext cx="16341220" cy="127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6"/>
              </a:lnSpc>
            </a:pPr>
            <a:r>
              <a:rPr lang="en-US" sz="10270" spc="-256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Threshold S: What it does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7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69559" y="5628923"/>
            <a:ext cx="6965218" cy="2135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More recursive </a:t>
            </a:r>
          </a:p>
          <a:p>
            <a:pPr algn="l">
              <a:lnSpc>
                <a:spcPts val="3406"/>
              </a:lnSpc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       </a:t>
            </a: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levels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More merge </a:t>
            </a:r>
          </a:p>
          <a:p>
            <a:pPr algn="l">
              <a:lnSpc>
                <a:spcPts val="3406"/>
              </a:lnSpc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       </a:t>
            </a: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operations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Smaller insertion sort leaves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96685" y="5721151"/>
            <a:ext cx="6965218" cy="170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Fewer recursive levels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Larger insertion</a:t>
            </a:r>
          </a:p>
          <a:p>
            <a:pPr algn="l">
              <a:lnSpc>
                <a:spcPts val="3406"/>
              </a:lnSpc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       </a:t>
            </a: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sort leaves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More insertion-sort comparisons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2027608" y="8349291"/>
            <a:ext cx="14343403" cy="879369"/>
            <a:chOff x="0" y="0"/>
            <a:chExt cx="19124538" cy="1172492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33185"/>
              <a:ext cx="19124538" cy="1139307"/>
              <a:chOff x="0" y="0"/>
              <a:chExt cx="3777687" cy="225048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3777686" cy="225048"/>
              </a:xfrm>
              <a:custGeom>
                <a:avLst/>
                <a:gdLst/>
                <a:ahLst/>
                <a:cxnLst/>
                <a:rect r="r" b="b" t="t" l="l"/>
                <a:pathLst>
                  <a:path h="225048" w="3777686">
                    <a:moveTo>
                      <a:pt x="21050" y="0"/>
                    </a:moveTo>
                    <a:lnTo>
                      <a:pt x="3756636" y="0"/>
                    </a:lnTo>
                    <a:cubicBezTo>
                      <a:pt x="3762219" y="0"/>
                      <a:pt x="3767573" y="2218"/>
                      <a:pt x="3771521" y="6166"/>
                    </a:cubicBezTo>
                    <a:cubicBezTo>
                      <a:pt x="3775469" y="10113"/>
                      <a:pt x="3777686" y="15468"/>
                      <a:pt x="3777686" y="21050"/>
                    </a:cubicBezTo>
                    <a:lnTo>
                      <a:pt x="3777686" y="203998"/>
                    </a:lnTo>
                    <a:cubicBezTo>
                      <a:pt x="3777686" y="209581"/>
                      <a:pt x="3775469" y="214935"/>
                      <a:pt x="3771521" y="218883"/>
                    </a:cubicBezTo>
                    <a:cubicBezTo>
                      <a:pt x="3767573" y="222831"/>
                      <a:pt x="3762219" y="225048"/>
                      <a:pt x="3756636" y="225048"/>
                    </a:cubicBezTo>
                    <a:lnTo>
                      <a:pt x="21050" y="225048"/>
                    </a:lnTo>
                    <a:cubicBezTo>
                      <a:pt x="15468" y="225048"/>
                      <a:pt x="10113" y="222831"/>
                      <a:pt x="6166" y="218883"/>
                    </a:cubicBezTo>
                    <a:cubicBezTo>
                      <a:pt x="2218" y="214935"/>
                      <a:pt x="0" y="209581"/>
                      <a:pt x="0" y="203998"/>
                    </a:cubicBezTo>
                    <a:lnTo>
                      <a:pt x="0" y="21050"/>
                    </a:lnTo>
                    <a:cubicBezTo>
                      <a:pt x="0" y="15468"/>
                      <a:pt x="2218" y="10113"/>
                      <a:pt x="6166" y="6166"/>
                    </a:cubicBezTo>
                    <a:cubicBezTo>
                      <a:pt x="10113" y="2218"/>
                      <a:pt x="15468" y="0"/>
                      <a:pt x="21050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3777687" cy="2631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0"/>
              <a:ext cx="19124538" cy="1139307"/>
              <a:chOff x="0" y="0"/>
              <a:chExt cx="3777687" cy="22504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777686" cy="225048"/>
              </a:xfrm>
              <a:custGeom>
                <a:avLst/>
                <a:gdLst/>
                <a:ahLst/>
                <a:cxnLst/>
                <a:rect r="r" b="b" t="t" l="l"/>
                <a:pathLst>
                  <a:path h="225048" w="3777686">
                    <a:moveTo>
                      <a:pt x="21050" y="0"/>
                    </a:moveTo>
                    <a:lnTo>
                      <a:pt x="3756636" y="0"/>
                    </a:lnTo>
                    <a:cubicBezTo>
                      <a:pt x="3762219" y="0"/>
                      <a:pt x="3767573" y="2218"/>
                      <a:pt x="3771521" y="6166"/>
                    </a:cubicBezTo>
                    <a:cubicBezTo>
                      <a:pt x="3775469" y="10113"/>
                      <a:pt x="3777686" y="15468"/>
                      <a:pt x="3777686" y="21050"/>
                    </a:cubicBezTo>
                    <a:lnTo>
                      <a:pt x="3777686" y="203998"/>
                    </a:lnTo>
                    <a:cubicBezTo>
                      <a:pt x="3777686" y="209581"/>
                      <a:pt x="3775469" y="214935"/>
                      <a:pt x="3771521" y="218883"/>
                    </a:cubicBezTo>
                    <a:cubicBezTo>
                      <a:pt x="3767573" y="222831"/>
                      <a:pt x="3762219" y="225048"/>
                      <a:pt x="3756636" y="225048"/>
                    </a:cubicBezTo>
                    <a:lnTo>
                      <a:pt x="21050" y="225048"/>
                    </a:lnTo>
                    <a:cubicBezTo>
                      <a:pt x="15468" y="225048"/>
                      <a:pt x="10113" y="222831"/>
                      <a:pt x="6166" y="218883"/>
                    </a:cubicBezTo>
                    <a:cubicBezTo>
                      <a:pt x="2218" y="214935"/>
                      <a:pt x="0" y="209581"/>
                      <a:pt x="0" y="203998"/>
                    </a:cubicBezTo>
                    <a:lnTo>
                      <a:pt x="0" y="21050"/>
                    </a:lnTo>
                    <a:cubicBezTo>
                      <a:pt x="0" y="15468"/>
                      <a:pt x="2218" y="10113"/>
                      <a:pt x="6166" y="6166"/>
                    </a:cubicBezTo>
                    <a:cubicBezTo>
                      <a:pt x="10113" y="2218"/>
                      <a:pt x="15468" y="0"/>
                      <a:pt x="21050" y="0"/>
                    </a:cubicBezTo>
                    <a:close/>
                  </a:path>
                </a:pathLst>
              </a:custGeom>
              <a:solidFill>
                <a:srgbClr val="C0DB41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3777687" cy="2631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550333" y="341869"/>
              <a:ext cx="18023871" cy="551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06"/>
                </a:lnSpc>
              </a:pPr>
              <a:r>
                <a:rPr lang="en-US" b="true" sz="2600" spc="-65">
                  <a:solidFill>
                    <a:srgbClr val="2E2E2E"/>
                  </a:solidFill>
                  <a:latin typeface="Body Grotesque Bold"/>
                  <a:ea typeface="Body Grotesque Bold"/>
                  <a:cs typeface="Body Grotesque Bold"/>
                  <a:sym typeface="Body Grotesque Bold"/>
                </a:rPr>
                <a:t>S controls the trade-off between merge recursion depth and insertion sort leaf size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804282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1623031">
            <a:off x="16955480" y="8371307"/>
            <a:ext cx="1025252" cy="969329"/>
          </a:xfrm>
          <a:custGeom>
            <a:avLst/>
            <a:gdLst/>
            <a:ahLst/>
            <a:cxnLst/>
            <a:rect r="r" b="b" t="t" l="l"/>
            <a:pathLst>
              <a:path h="969329" w="1025252">
                <a:moveTo>
                  <a:pt x="0" y="0"/>
                </a:moveTo>
                <a:lnTo>
                  <a:pt x="1025252" y="0"/>
                </a:lnTo>
                <a:lnTo>
                  <a:pt x="1025252" y="969329"/>
                </a:lnTo>
                <a:lnTo>
                  <a:pt x="0" y="9693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094297" y="2942441"/>
            <a:ext cx="5810992" cy="5663076"/>
          </a:xfrm>
          <a:custGeom>
            <a:avLst/>
            <a:gdLst/>
            <a:ahLst/>
            <a:cxnLst/>
            <a:rect r="r" b="b" t="t" l="l"/>
            <a:pathLst>
              <a:path h="5663076" w="5810992">
                <a:moveTo>
                  <a:pt x="5810992" y="0"/>
                </a:moveTo>
                <a:lnTo>
                  <a:pt x="0" y="0"/>
                </a:lnTo>
                <a:lnTo>
                  <a:pt x="0" y="5663076"/>
                </a:lnTo>
                <a:lnTo>
                  <a:pt x="5810992" y="5663076"/>
                </a:lnTo>
                <a:lnTo>
                  <a:pt x="581099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14537">
            <a:off x="12489722" y="6687264"/>
            <a:ext cx="862117" cy="1423917"/>
          </a:xfrm>
          <a:custGeom>
            <a:avLst/>
            <a:gdLst/>
            <a:ahLst/>
            <a:cxnLst/>
            <a:rect r="r" b="b" t="t" l="l"/>
            <a:pathLst>
              <a:path h="1423917" w="862117">
                <a:moveTo>
                  <a:pt x="0" y="0"/>
                </a:moveTo>
                <a:lnTo>
                  <a:pt x="862117" y="0"/>
                </a:lnTo>
                <a:lnTo>
                  <a:pt x="862117" y="1423917"/>
                </a:lnTo>
                <a:lnTo>
                  <a:pt x="0" y="1423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6631" y="3084205"/>
            <a:ext cx="11081019" cy="6221720"/>
          </a:xfrm>
          <a:custGeom>
            <a:avLst/>
            <a:gdLst/>
            <a:ahLst/>
            <a:cxnLst/>
            <a:rect r="r" b="b" t="t" l="l"/>
            <a:pathLst>
              <a:path h="6221720" w="11081019">
                <a:moveTo>
                  <a:pt x="0" y="0"/>
                </a:moveTo>
                <a:lnTo>
                  <a:pt x="11081019" y="0"/>
                </a:lnTo>
                <a:lnTo>
                  <a:pt x="11081019" y="6221720"/>
                </a:lnTo>
                <a:lnTo>
                  <a:pt x="0" y="62217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750829"/>
            <a:ext cx="15284788" cy="127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2"/>
              </a:lnSpc>
            </a:pPr>
            <a:r>
              <a:rPr lang="en-US" sz="10299" spc="-257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Hybrid Algorithm Code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7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804282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96623" y="3000403"/>
            <a:ext cx="8460892" cy="4236732"/>
          </a:xfrm>
          <a:custGeom>
            <a:avLst/>
            <a:gdLst/>
            <a:ahLst/>
            <a:cxnLst/>
            <a:rect r="r" b="b" t="t" l="l"/>
            <a:pathLst>
              <a:path h="4236732" w="8460892">
                <a:moveTo>
                  <a:pt x="0" y="0"/>
                </a:moveTo>
                <a:lnTo>
                  <a:pt x="8460892" y="0"/>
                </a:lnTo>
                <a:lnTo>
                  <a:pt x="8460892" y="4236732"/>
                </a:lnTo>
                <a:lnTo>
                  <a:pt x="0" y="4236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50330" y="3000403"/>
            <a:ext cx="6922844" cy="4236732"/>
          </a:xfrm>
          <a:custGeom>
            <a:avLst/>
            <a:gdLst/>
            <a:ahLst/>
            <a:cxnLst/>
            <a:rect r="r" b="b" t="t" l="l"/>
            <a:pathLst>
              <a:path h="4236732" w="6922844">
                <a:moveTo>
                  <a:pt x="0" y="0"/>
                </a:moveTo>
                <a:lnTo>
                  <a:pt x="6922844" y="0"/>
                </a:lnTo>
                <a:lnTo>
                  <a:pt x="6922844" y="4236732"/>
                </a:lnTo>
                <a:lnTo>
                  <a:pt x="0" y="423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1307" y="1779415"/>
            <a:ext cx="6331524" cy="1125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1"/>
              </a:lnSpc>
            </a:pPr>
            <a:r>
              <a:rPr lang="en-US" sz="9100" spc="-227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Merge Sort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99885" y="1779415"/>
            <a:ext cx="7823735" cy="112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9099" spc="-227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Insertion Sort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0284" y="7472668"/>
            <a:ext cx="6980220" cy="103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2"/>
              </a:lnSpc>
            </a:pPr>
            <a:r>
              <a:rPr lang="en-US" sz="3200" spc="-80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Efficiently merges large, sorted subarrays in O(n) time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1642" y="7472668"/>
            <a:ext cx="6980220" cy="103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2"/>
              </a:lnSpc>
            </a:pPr>
            <a:r>
              <a:rPr lang="en-US" sz="3200" spc="-80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Efficiently sorts small subarrays</a:t>
            </a:r>
          </a:p>
          <a:p>
            <a:pPr algn="ctr">
              <a:lnSpc>
                <a:spcPts val="4192"/>
              </a:lnSpc>
            </a:pPr>
            <a:r>
              <a:rPr lang="en-US" sz="3200" spc="-80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of size 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970062" y="1666974"/>
            <a:ext cx="1115087" cy="1488587"/>
          </a:xfrm>
          <a:custGeom>
            <a:avLst/>
            <a:gdLst/>
            <a:ahLst/>
            <a:cxnLst/>
            <a:rect r="r" b="b" t="t" l="l"/>
            <a:pathLst>
              <a:path h="1488587" w="1115087">
                <a:moveTo>
                  <a:pt x="0" y="0"/>
                </a:moveTo>
                <a:lnTo>
                  <a:pt x="1115088" y="0"/>
                </a:lnTo>
                <a:lnTo>
                  <a:pt x="1115088" y="1488587"/>
                </a:lnTo>
                <a:lnTo>
                  <a:pt x="0" y="1488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3901379"/>
            <a:ext cx="6980220" cy="766953"/>
            <a:chOff x="0" y="0"/>
            <a:chExt cx="1838412" cy="2019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8412" cy="201996"/>
            </a:xfrm>
            <a:custGeom>
              <a:avLst/>
              <a:gdLst/>
              <a:ahLst/>
              <a:cxnLst/>
              <a:rect r="r" b="b" t="t" l="l"/>
              <a:pathLst>
                <a:path h="201996" w="1838412">
                  <a:moveTo>
                    <a:pt x="15528" y="0"/>
                  </a:moveTo>
                  <a:lnTo>
                    <a:pt x="1822884" y="0"/>
                  </a:lnTo>
                  <a:cubicBezTo>
                    <a:pt x="1827002" y="0"/>
                    <a:pt x="1830952" y="1636"/>
                    <a:pt x="1833864" y="4548"/>
                  </a:cubicBezTo>
                  <a:cubicBezTo>
                    <a:pt x="1836776" y="7460"/>
                    <a:pt x="1838412" y="11410"/>
                    <a:pt x="1838412" y="15528"/>
                  </a:cubicBezTo>
                  <a:lnTo>
                    <a:pt x="1838412" y="186468"/>
                  </a:lnTo>
                  <a:cubicBezTo>
                    <a:pt x="1838412" y="195044"/>
                    <a:pt x="1831460" y="201996"/>
                    <a:pt x="1822884" y="201996"/>
                  </a:cubicBezTo>
                  <a:lnTo>
                    <a:pt x="15528" y="201996"/>
                  </a:lnTo>
                  <a:cubicBezTo>
                    <a:pt x="6952" y="201996"/>
                    <a:pt x="0" y="195044"/>
                    <a:pt x="0" y="186468"/>
                  </a:cubicBezTo>
                  <a:lnTo>
                    <a:pt x="0" y="15528"/>
                  </a:lnTo>
                  <a:cubicBezTo>
                    <a:pt x="0" y="6952"/>
                    <a:pt x="6952" y="0"/>
                    <a:pt x="15528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38412" cy="24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58500" y="3901379"/>
            <a:ext cx="6980220" cy="766953"/>
            <a:chOff x="0" y="0"/>
            <a:chExt cx="1838412" cy="2019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38412" cy="201996"/>
            </a:xfrm>
            <a:custGeom>
              <a:avLst/>
              <a:gdLst/>
              <a:ahLst/>
              <a:cxnLst/>
              <a:rect r="r" b="b" t="t" l="l"/>
              <a:pathLst>
                <a:path h="201996" w="1838412">
                  <a:moveTo>
                    <a:pt x="15528" y="0"/>
                  </a:moveTo>
                  <a:lnTo>
                    <a:pt x="1822884" y="0"/>
                  </a:lnTo>
                  <a:cubicBezTo>
                    <a:pt x="1827002" y="0"/>
                    <a:pt x="1830952" y="1636"/>
                    <a:pt x="1833864" y="4548"/>
                  </a:cubicBezTo>
                  <a:cubicBezTo>
                    <a:pt x="1836776" y="7460"/>
                    <a:pt x="1838412" y="11410"/>
                    <a:pt x="1838412" y="15528"/>
                  </a:cubicBezTo>
                  <a:lnTo>
                    <a:pt x="1838412" y="186468"/>
                  </a:lnTo>
                  <a:cubicBezTo>
                    <a:pt x="1838412" y="195044"/>
                    <a:pt x="1831460" y="201996"/>
                    <a:pt x="1822884" y="201996"/>
                  </a:cubicBezTo>
                  <a:lnTo>
                    <a:pt x="15528" y="201996"/>
                  </a:lnTo>
                  <a:cubicBezTo>
                    <a:pt x="6952" y="201996"/>
                    <a:pt x="0" y="195044"/>
                    <a:pt x="0" y="186468"/>
                  </a:cubicBezTo>
                  <a:lnTo>
                    <a:pt x="0" y="15528"/>
                  </a:lnTo>
                  <a:cubicBezTo>
                    <a:pt x="0" y="6952"/>
                    <a:pt x="6952" y="0"/>
                    <a:pt x="15528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38412" cy="24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812786"/>
            <a:ext cx="6980220" cy="766953"/>
            <a:chOff x="0" y="0"/>
            <a:chExt cx="1838412" cy="2019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38412" cy="201996"/>
            </a:xfrm>
            <a:custGeom>
              <a:avLst/>
              <a:gdLst/>
              <a:ahLst/>
              <a:cxnLst/>
              <a:rect r="r" b="b" t="t" l="l"/>
              <a:pathLst>
                <a:path h="201996" w="1838412">
                  <a:moveTo>
                    <a:pt x="15528" y="0"/>
                  </a:moveTo>
                  <a:lnTo>
                    <a:pt x="1822884" y="0"/>
                  </a:lnTo>
                  <a:cubicBezTo>
                    <a:pt x="1827002" y="0"/>
                    <a:pt x="1830952" y="1636"/>
                    <a:pt x="1833864" y="4548"/>
                  </a:cubicBezTo>
                  <a:cubicBezTo>
                    <a:pt x="1836776" y="7460"/>
                    <a:pt x="1838412" y="11410"/>
                    <a:pt x="1838412" y="15528"/>
                  </a:cubicBezTo>
                  <a:lnTo>
                    <a:pt x="1838412" y="186468"/>
                  </a:lnTo>
                  <a:cubicBezTo>
                    <a:pt x="1838412" y="195044"/>
                    <a:pt x="1831460" y="201996"/>
                    <a:pt x="1822884" y="201996"/>
                  </a:cubicBezTo>
                  <a:lnTo>
                    <a:pt x="15528" y="201996"/>
                  </a:lnTo>
                  <a:cubicBezTo>
                    <a:pt x="6952" y="201996"/>
                    <a:pt x="0" y="195044"/>
                    <a:pt x="0" y="186468"/>
                  </a:cubicBezTo>
                  <a:lnTo>
                    <a:pt x="0" y="15528"/>
                  </a:lnTo>
                  <a:cubicBezTo>
                    <a:pt x="0" y="6952"/>
                    <a:pt x="6952" y="0"/>
                    <a:pt x="15528" y="0"/>
                  </a:cubicBezTo>
                  <a:close/>
                </a:path>
              </a:pathLst>
            </a:custGeom>
            <a:solidFill>
              <a:srgbClr val="C0DB4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38412" cy="24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58500" y="3812786"/>
            <a:ext cx="6980220" cy="766953"/>
            <a:chOff x="0" y="0"/>
            <a:chExt cx="1838412" cy="2019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38412" cy="201996"/>
            </a:xfrm>
            <a:custGeom>
              <a:avLst/>
              <a:gdLst/>
              <a:ahLst/>
              <a:cxnLst/>
              <a:rect r="r" b="b" t="t" l="l"/>
              <a:pathLst>
                <a:path h="201996" w="1838412">
                  <a:moveTo>
                    <a:pt x="15528" y="0"/>
                  </a:moveTo>
                  <a:lnTo>
                    <a:pt x="1822884" y="0"/>
                  </a:lnTo>
                  <a:cubicBezTo>
                    <a:pt x="1827002" y="0"/>
                    <a:pt x="1830952" y="1636"/>
                    <a:pt x="1833864" y="4548"/>
                  </a:cubicBezTo>
                  <a:cubicBezTo>
                    <a:pt x="1836776" y="7460"/>
                    <a:pt x="1838412" y="11410"/>
                    <a:pt x="1838412" y="15528"/>
                  </a:cubicBezTo>
                  <a:lnTo>
                    <a:pt x="1838412" y="186468"/>
                  </a:lnTo>
                  <a:cubicBezTo>
                    <a:pt x="1838412" y="195044"/>
                    <a:pt x="1831460" y="201996"/>
                    <a:pt x="1822884" y="201996"/>
                  </a:cubicBezTo>
                  <a:lnTo>
                    <a:pt x="15528" y="201996"/>
                  </a:lnTo>
                  <a:cubicBezTo>
                    <a:pt x="6952" y="201996"/>
                    <a:pt x="0" y="195044"/>
                    <a:pt x="0" y="186468"/>
                  </a:cubicBezTo>
                  <a:lnTo>
                    <a:pt x="0" y="15528"/>
                  </a:lnTo>
                  <a:cubicBezTo>
                    <a:pt x="0" y="6952"/>
                    <a:pt x="6952" y="0"/>
                    <a:pt x="15528" y="0"/>
                  </a:cubicBezTo>
                  <a:close/>
                </a:path>
              </a:pathLst>
            </a:custGeom>
            <a:solidFill>
              <a:srgbClr val="C0DB4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38412" cy="240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58500" y="6976303"/>
            <a:ext cx="6854094" cy="1269798"/>
            <a:chOff x="0" y="0"/>
            <a:chExt cx="9138792" cy="169306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47919"/>
              <a:ext cx="9138792" cy="1645145"/>
              <a:chOff x="0" y="0"/>
              <a:chExt cx="3067611" cy="55222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067611" cy="552224"/>
              </a:xfrm>
              <a:custGeom>
                <a:avLst/>
                <a:gdLst/>
                <a:ahLst/>
                <a:cxnLst/>
                <a:rect r="r" b="b" t="t" l="l"/>
                <a:pathLst>
                  <a:path h="552224" w="3067611">
                    <a:moveTo>
                      <a:pt x="25923" y="0"/>
                    </a:moveTo>
                    <a:lnTo>
                      <a:pt x="3041688" y="0"/>
                    </a:lnTo>
                    <a:cubicBezTo>
                      <a:pt x="3048563" y="0"/>
                      <a:pt x="3055156" y="2731"/>
                      <a:pt x="3060018" y="7593"/>
                    </a:cubicBezTo>
                    <a:cubicBezTo>
                      <a:pt x="3064879" y="12454"/>
                      <a:pt x="3067611" y="19048"/>
                      <a:pt x="3067611" y="25923"/>
                    </a:cubicBezTo>
                    <a:lnTo>
                      <a:pt x="3067611" y="526301"/>
                    </a:lnTo>
                    <a:cubicBezTo>
                      <a:pt x="3067611" y="533176"/>
                      <a:pt x="3064879" y="539770"/>
                      <a:pt x="3060018" y="544632"/>
                    </a:cubicBezTo>
                    <a:cubicBezTo>
                      <a:pt x="3055156" y="549493"/>
                      <a:pt x="3048563" y="552224"/>
                      <a:pt x="3041688" y="552224"/>
                    </a:cubicBezTo>
                    <a:lnTo>
                      <a:pt x="25923" y="552224"/>
                    </a:lnTo>
                    <a:cubicBezTo>
                      <a:pt x="19048" y="552224"/>
                      <a:pt x="12454" y="549493"/>
                      <a:pt x="7593" y="544632"/>
                    </a:cubicBezTo>
                    <a:cubicBezTo>
                      <a:pt x="2731" y="539770"/>
                      <a:pt x="0" y="533176"/>
                      <a:pt x="0" y="526301"/>
                    </a:cubicBezTo>
                    <a:lnTo>
                      <a:pt x="0" y="25923"/>
                    </a:lnTo>
                    <a:cubicBezTo>
                      <a:pt x="0" y="19048"/>
                      <a:pt x="2731" y="12454"/>
                      <a:pt x="7593" y="7593"/>
                    </a:cubicBezTo>
                    <a:cubicBezTo>
                      <a:pt x="12454" y="2731"/>
                      <a:pt x="19048" y="0"/>
                      <a:pt x="25923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067611" cy="5903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9138792" cy="1645145"/>
              <a:chOff x="0" y="0"/>
              <a:chExt cx="3067611" cy="55222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067611" cy="552224"/>
              </a:xfrm>
              <a:custGeom>
                <a:avLst/>
                <a:gdLst/>
                <a:ahLst/>
                <a:cxnLst/>
                <a:rect r="r" b="b" t="t" l="l"/>
                <a:pathLst>
                  <a:path h="552224" w="3067611">
                    <a:moveTo>
                      <a:pt x="25923" y="0"/>
                    </a:moveTo>
                    <a:lnTo>
                      <a:pt x="3041688" y="0"/>
                    </a:lnTo>
                    <a:cubicBezTo>
                      <a:pt x="3048563" y="0"/>
                      <a:pt x="3055156" y="2731"/>
                      <a:pt x="3060018" y="7593"/>
                    </a:cubicBezTo>
                    <a:cubicBezTo>
                      <a:pt x="3064879" y="12454"/>
                      <a:pt x="3067611" y="19048"/>
                      <a:pt x="3067611" y="25923"/>
                    </a:cubicBezTo>
                    <a:lnTo>
                      <a:pt x="3067611" y="526301"/>
                    </a:lnTo>
                    <a:cubicBezTo>
                      <a:pt x="3067611" y="533176"/>
                      <a:pt x="3064879" y="539770"/>
                      <a:pt x="3060018" y="544632"/>
                    </a:cubicBezTo>
                    <a:cubicBezTo>
                      <a:pt x="3055156" y="549493"/>
                      <a:pt x="3048563" y="552224"/>
                      <a:pt x="3041688" y="552224"/>
                    </a:cubicBezTo>
                    <a:lnTo>
                      <a:pt x="25923" y="552224"/>
                    </a:lnTo>
                    <a:cubicBezTo>
                      <a:pt x="19048" y="552224"/>
                      <a:pt x="12454" y="549493"/>
                      <a:pt x="7593" y="544632"/>
                    </a:cubicBezTo>
                    <a:cubicBezTo>
                      <a:pt x="2731" y="539770"/>
                      <a:pt x="0" y="533176"/>
                      <a:pt x="0" y="526301"/>
                    </a:cubicBezTo>
                    <a:lnTo>
                      <a:pt x="0" y="25923"/>
                    </a:lnTo>
                    <a:cubicBezTo>
                      <a:pt x="0" y="19048"/>
                      <a:pt x="2731" y="12454"/>
                      <a:pt x="7593" y="7593"/>
                    </a:cubicBezTo>
                    <a:cubicBezTo>
                      <a:pt x="12454" y="2731"/>
                      <a:pt x="19048" y="0"/>
                      <a:pt x="25923" y="0"/>
                    </a:cubicBezTo>
                    <a:close/>
                  </a:path>
                </a:pathLst>
              </a:custGeom>
              <a:solidFill>
                <a:srgbClr val="C0DB4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3067611" cy="5903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353087"/>
              <a:ext cx="8802347" cy="1015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016" indent="-259008" lvl="1">
                <a:lnSpc>
                  <a:spcPts val="3143"/>
                </a:lnSpc>
                <a:buFont typeface="Arial"/>
                <a:buChar char="•"/>
              </a:pPr>
              <a:r>
                <a:rPr lang="en-US" b="true" sz="2399" spc="-59">
                  <a:solidFill>
                    <a:srgbClr val="2E2E2E"/>
                  </a:solidFill>
                  <a:latin typeface="Body Grotesque Bold"/>
                  <a:ea typeface="Body Grotesque Bold"/>
                  <a:cs typeface="Body Grotesque Bold"/>
                  <a:sym typeface="Body Grotesque Bold"/>
                </a:rPr>
                <a:t>Process CPU time (not clock time)</a:t>
              </a:r>
            </a:p>
            <a:p>
              <a:pPr algn="l" marL="518016" indent="-259008" lvl="1">
                <a:lnSpc>
                  <a:spcPts val="3143"/>
                </a:lnSpc>
                <a:buFont typeface="Arial"/>
                <a:buChar char="•"/>
              </a:pPr>
              <a:r>
                <a:rPr lang="en-US" b="true" sz="2399" spc="-59">
                  <a:solidFill>
                    <a:srgbClr val="2E2E2E"/>
                  </a:solidFill>
                  <a:latin typeface="Body Grotesque Bold"/>
                  <a:ea typeface="Body Grotesque Bold"/>
                  <a:cs typeface="Body Grotesque Bold"/>
                  <a:sym typeface="Body Grotesque Bold"/>
                </a:rPr>
                <a:t>Copying &amp; Validation excluded from timing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601885" y="8265151"/>
            <a:ext cx="13084230" cy="1905391"/>
          </a:xfrm>
          <a:custGeom>
            <a:avLst/>
            <a:gdLst/>
            <a:ahLst/>
            <a:cxnLst/>
            <a:rect r="r" b="b" t="t" l="l"/>
            <a:pathLst>
              <a:path h="1905391" w="13084230">
                <a:moveTo>
                  <a:pt x="0" y="0"/>
                </a:moveTo>
                <a:lnTo>
                  <a:pt x="13084230" y="0"/>
                </a:lnTo>
                <a:lnTo>
                  <a:pt x="13084230" y="1905391"/>
                </a:lnTo>
                <a:lnTo>
                  <a:pt x="0" y="19053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1347463"/>
            <a:ext cx="11323167" cy="245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2"/>
              </a:lnSpc>
            </a:pPr>
            <a:r>
              <a:rPr lang="en-US" sz="10299" spc="-257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Input Generation and Timing Setup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4801682"/>
            <a:ext cx="6980220" cy="312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192"/>
              </a:lnSpc>
              <a:buFont typeface="Arial"/>
              <a:buChar char="•"/>
            </a:pPr>
            <a:r>
              <a:rPr lang="en-US" sz="3200" spc="-80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Random seed = 2001</a:t>
            </a:r>
          </a:p>
          <a:p>
            <a:pPr algn="l" marL="690881" indent="-345440" lvl="1">
              <a:lnSpc>
                <a:spcPts val="4192"/>
              </a:lnSpc>
              <a:buFont typeface="Arial"/>
              <a:buChar char="•"/>
            </a:pPr>
            <a:r>
              <a:rPr lang="en-US" sz="3200" spc="-80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Values sampled from [1, 10,000,000]</a:t>
            </a:r>
          </a:p>
          <a:p>
            <a:pPr algn="l" marL="690881" indent="-345440" lvl="1">
              <a:lnSpc>
                <a:spcPts val="4192"/>
              </a:lnSpc>
              <a:buFont typeface="Arial"/>
              <a:buChar char="•"/>
            </a:pPr>
            <a:r>
              <a:rPr lang="en-US" sz="3200" spc="-80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Input sizes include n = 1,000 up to 10,000,000</a:t>
            </a:r>
          </a:p>
          <a:p>
            <a:pPr algn="l" marL="690881" indent="-345440" lvl="1">
              <a:lnSpc>
                <a:spcPts val="4192"/>
              </a:lnSpc>
              <a:buFont typeface="Arial"/>
              <a:buChar char="•"/>
            </a:pPr>
            <a:r>
              <a:rPr lang="en-US" sz="3200" spc="-80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Same unsorted dataset reused within each controlled comparison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58500" y="4801682"/>
            <a:ext cx="6980220" cy="2079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192"/>
              </a:lnSpc>
              <a:buFont typeface="Arial"/>
              <a:buChar char="•"/>
            </a:pPr>
            <a:r>
              <a:rPr lang="en-US" sz="3200" spc="-80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time.process_time_ns()</a:t>
            </a:r>
          </a:p>
          <a:p>
            <a:pPr algn="l" marL="690881" indent="-345440" lvl="1">
              <a:lnSpc>
                <a:spcPts val="4192"/>
              </a:lnSpc>
              <a:buFont typeface="Arial"/>
              <a:buChar char="•"/>
            </a:pPr>
            <a:r>
              <a:rPr lang="en-US" sz="3200" spc="-80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Copy input before timing</a:t>
            </a:r>
          </a:p>
          <a:p>
            <a:pPr algn="l" marL="690881" indent="-345440" lvl="1">
              <a:lnSpc>
                <a:spcPts val="4192"/>
              </a:lnSpc>
              <a:buFont typeface="Arial"/>
              <a:buChar char="•"/>
            </a:pPr>
            <a:r>
              <a:rPr lang="en-US" sz="3200" spc="-80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Time only the sorting call</a:t>
            </a:r>
          </a:p>
          <a:p>
            <a:pPr algn="l" marL="690881" indent="-345440" lvl="1">
              <a:lnSpc>
                <a:spcPts val="4192"/>
              </a:lnSpc>
              <a:buFont typeface="Arial"/>
              <a:buChar char="•"/>
            </a:pPr>
            <a:r>
              <a:rPr lang="en-US" sz="3200" spc="-80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Validate sorted output after timing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8825" y="3936611"/>
            <a:ext cx="6399971" cy="5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2"/>
              </a:lnSpc>
            </a:pPr>
            <a:r>
              <a:rPr lang="en-US" sz="3200" spc="-80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Dataset generation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48625" y="3936611"/>
            <a:ext cx="6399971" cy="5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2"/>
              </a:lnSpc>
            </a:pPr>
            <a:r>
              <a:rPr lang="en-US" sz="3200" spc="-80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Timing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804282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44905" y="3025527"/>
            <a:ext cx="5025113" cy="484278"/>
            <a:chOff x="0" y="0"/>
            <a:chExt cx="1505979" cy="1451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5979" cy="145134"/>
            </a:xfrm>
            <a:custGeom>
              <a:avLst/>
              <a:gdLst/>
              <a:ahLst/>
              <a:cxnLst/>
              <a:rect r="r" b="b" t="t" l="l"/>
              <a:pathLst>
                <a:path h="145134" w="1505979">
                  <a:moveTo>
                    <a:pt x="21569" y="0"/>
                  </a:moveTo>
                  <a:lnTo>
                    <a:pt x="1484410" y="0"/>
                  </a:lnTo>
                  <a:cubicBezTo>
                    <a:pt x="1496322" y="0"/>
                    <a:pt x="1505979" y="9657"/>
                    <a:pt x="1505979" y="21569"/>
                  </a:cubicBezTo>
                  <a:lnTo>
                    <a:pt x="1505979" y="123565"/>
                  </a:lnTo>
                  <a:cubicBezTo>
                    <a:pt x="1505979" y="129285"/>
                    <a:pt x="1503706" y="134771"/>
                    <a:pt x="1499661" y="138816"/>
                  </a:cubicBezTo>
                  <a:cubicBezTo>
                    <a:pt x="1495617" y="142861"/>
                    <a:pt x="1490130" y="145134"/>
                    <a:pt x="1484410" y="145134"/>
                  </a:cubicBezTo>
                  <a:lnTo>
                    <a:pt x="21569" y="145134"/>
                  </a:lnTo>
                  <a:cubicBezTo>
                    <a:pt x="9657" y="145134"/>
                    <a:pt x="0" y="135477"/>
                    <a:pt x="0" y="123565"/>
                  </a:cubicBezTo>
                  <a:lnTo>
                    <a:pt x="0" y="21569"/>
                  </a:lnTo>
                  <a:cubicBezTo>
                    <a:pt x="0" y="9657"/>
                    <a:pt x="9657" y="0"/>
                    <a:pt x="21569" y="0"/>
                  </a:cubicBezTo>
                  <a:close/>
                </a:path>
              </a:pathLst>
            </a:custGeom>
            <a:solidFill>
              <a:srgbClr val="C0DB4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05979" cy="183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1470" y="4771110"/>
            <a:ext cx="5553329" cy="407315"/>
            <a:chOff x="0" y="0"/>
            <a:chExt cx="1664280" cy="1220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64280" cy="122068"/>
            </a:xfrm>
            <a:custGeom>
              <a:avLst/>
              <a:gdLst/>
              <a:ahLst/>
              <a:cxnLst/>
              <a:rect r="r" b="b" t="t" l="l"/>
              <a:pathLst>
                <a:path h="122068" w="1664280">
                  <a:moveTo>
                    <a:pt x="19517" y="0"/>
                  </a:moveTo>
                  <a:lnTo>
                    <a:pt x="1644763" y="0"/>
                  </a:lnTo>
                  <a:cubicBezTo>
                    <a:pt x="1655542" y="0"/>
                    <a:pt x="1664280" y="8738"/>
                    <a:pt x="1664280" y="19517"/>
                  </a:cubicBezTo>
                  <a:lnTo>
                    <a:pt x="1664280" y="102551"/>
                  </a:lnTo>
                  <a:cubicBezTo>
                    <a:pt x="1664280" y="107727"/>
                    <a:pt x="1662224" y="112692"/>
                    <a:pt x="1658564" y="116352"/>
                  </a:cubicBezTo>
                  <a:cubicBezTo>
                    <a:pt x="1654904" y="120012"/>
                    <a:pt x="1649939" y="122068"/>
                    <a:pt x="1644763" y="122068"/>
                  </a:cubicBezTo>
                  <a:lnTo>
                    <a:pt x="19517" y="122068"/>
                  </a:lnTo>
                  <a:cubicBezTo>
                    <a:pt x="14341" y="122068"/>
                    <a:pt x="9377" y="120012"/>
                    <a:pt x="5717" y="116352"/>
                  </a:cubicBezTo>
                  <a:cubicBezTo>
                    <a:pt x="2056" y="112692"/>
                    <a:pt x="0" y="107727"/>
                    <a:pt x="0" y="102551"/>
                  </a:cubicBezTo>
                  <a:lnTo>
                    <a:pt x="0" y="19517"/>
                  </a:lnTo>
                  <a:cubicBezTo>
                    <a:pt x="0" y="14341"/>
                    <a:pt x="2056" y="9377"/>
                    <a:pt x="5717" y="5717"/>
                  </a:cubicBezTo>
                  <a:cubicBezTo>
                    <a:pt x="9377" y="2056"/>
                    <a:pt x="14341" y="0"/>
                    <a:pt x="19517" y="0"/>
                  </a:cubicBezTo>
                  <a:close/>
                </a:path>
              </a:pathLst>
            </a:custGeom>
            <a:solidFill>
              <a:srgbClr val="C0DB4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64280" cy="1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4905" y="6535386"/>
            <a:ext cx="3466876" cy="402971"/>
            <a:chOff x="0" y="0"/>
            <a:chExt cx="1038990" cy="1207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8990" cy="120767"/>
            </a:xfrm>
            <a:custGeom>
              <a:avLst/>
              <a:gdLst/>
              <a:ahLst/>
              <a:cxnLst/>
              <a:rect r="r" b="b" t="t" l="l"/>
              <a:pathLst>
                <a:path h="120767" w="1038990">
                  <a:moveTo>
                    <a:pt x="31264" y="0"/>
                  </a:moveTo>
                  <a:lnTo>
                    <a:pt x="1007726" y="0"/>
                  </a:lnTo>
                  <a:cubicBezTo>
                    <a:pt x="1024993" y="0"/>
                    <a:pt x="1038990" y="13997"/>
                    <a:pt x="1038990" y="31264"/>
                  </a:cubicBezTo>
                  <a:lnTo>
                    <a:pt x="1038990" y="89503"/>
                  </a:lnTo>
                  <a:cubicBezTo>
                    <a:pt x="1038990" y="97795"/>
                    <a:pt x="1035696" y="105747"/>
                    <a:pt x="1029833" y="111610"/>
                  </a:cubicBezTo>
                  <a:cubicBezTo>
                    <a:pt x="1023970" y="117473"/>
                    <a:pt x="1016018" y="120767"/>
                    <a:pt x="1007726" y="120767"/>
                  </a:cubicBezTo>
                  <a:lnTo>
                    <a:pt x="31264" y="120767"/>
                  </a:lnTo>
                  <a:cubicBezTo>
                    <a:pt x="13997" y="120767"/>
                    <a:pt x="0" y="106769"/>
                    <a:pt x="0" y="89503"/>
                  </a:cubicBezTo>
                  <a:lnTo>
                    <a:pt x="0" y="31264"/>
                  </a:lnTo>
                  <a:cubicBezTo>
                    <a:pt x="0" y="13997"/>
                    <a:pt x="13997" y="0"/>
                    <a:pt x="31264" y="0"/>
                  </a:cubicBezTo>
                  <a:close/>
                </a:path>
              </a:pathLst>
            </a:custGeom>
            <a:solidFill>
              <a:srgbClr val="C0DB4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38990" cy="158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65805" y="3285460"/>
            <a:ext cx="3663175" cy="1576602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11222" y="4870976"/>
            <a:ext cx="5518180" cy="1890897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18162" y="6461649"/>
            <a:ext cx="6634895" cy="1905452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 rot="0">
            <a:off x="844905" y="8133700"/>
            <a:ext cx="2333481" cy="402971"/>
            <a:chOff x="0" y="0"/>
            <a:chExt cx="699322" cy="1207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9322" cy="120767"/>
            </a:xfrm>
            <a:custGeom>
              <a:avLst/>
              <a:gdLst/>
              <a:ahLst/>
              <a:cxnLst/>
              <a:rect r="r" b="b" t="t" l="l"/>
              <a:pathLst>
                <a:path h="120767" w="699322">
                  <a:moveTo>
                    <a:pt x="46449" y="0"/>
                  </a:moveTo>
                  <a:lnTo>
                    <a:pt x="652874" y="0"/>
                  </a:lnTo>
                  <a:cubicBezTo>
                    <a:pt x="678526" y="0"/>
                    <a:pt x="699322" y="20796"/>
                    <a:pt x="699322" y="46449"/>
                  </a:cubicBezTo>
                  <a:lnTo>
                    <a:pt x="699322" y="74318"/>
                  </a:lnTo>
                  <a:cubicBezTo>
                    <a:pt x="699322" y="86637"/>
                    <a:pt x="694428" y="98451"/>
                    <a:pt x="685718" y="107162"/>
                  </a:cubicBezTo>
                  <a:cubicBezTo>
                    <a:pt x="677007" y="115873"/>
                    <a:pt x="665192" y="120767"/>
                    <a:pt x="652874" y="120767"/>
                  </a:cubicBezTo>
                  <a:lnTo>
                    <a:pt x="46449" y="120767"/>
                  </a:lnTo>
                  <a:cubicBezTo>
                    <a:pt x="20796" y="120767"/>
                    <a:pt x="0" y="99971"/>
                    <a:pt x="0" y="74318"/>
                  </a:cubicBezTo>
                  <a:lnTo>
                    <a:pt x="0" y="46449"/>
                  </a:lnTo>
                  <a:cubicBezTo>
                    <a:pt x="0" y="34130"/>
                    <a:pt x="4894" y="22315"/>
                    <a:pt x="13604" y="13604"/>
                  </a:cubicBezTo>
                  <a:cubicBezTo>
                    <a:pt x="22315" y="4894"/>
                    <a:pt x="34130" y="0"/>
                    <a:pt x="46449" y="0"/>
                  </a:cubicBezTo>
                  <a:close/>
                </a:path>
              </a:pathLst>
            </a:custGeom>
            <a:solidFill>
              <a:srgbClr val="C0DB4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99322" cy="158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8105125"/>
            <a:ext cx="2149686" cy="5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2"/>
              </a:lnSpc>
            </a:pPr>
            <a:r>
              <a:rPr lang="en-US" b="true" sz="3200" spc="-80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If S is fixed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54423" y="8077173"/>
            <a:ext cx="6199768" cy="1616282"/>
          </a:xfrm>
          <a:prstGeom prst="rect">
            <a:avLst/>
          </a:prstGeom>
        </p:spPr>
      </p:pic>
      <p:sp>
        <p:nvSpPr>
          <p:cNvPr name="Freeform 21" id="21"/>
          <p:cNvSpPr/>
          <p:nvPr/>
        </p:nvSpPr>
        <p:spPr>
          <a:xfrm flipH="false" flipV="false" rot="0">
            <a:off x="8067989" y="2836171"/>
            <a:ext cx="9191311" cy="6692970"/>
          </a:xfrm>
          <a:custGeom>
            <a:avLst/>
            <a:gdLst/>
            <a:ahLst/>
            <a:cxnLst/>
            <a:rect r="r" b="b" t="t" l="l"/>
            <a:pathLst>
              <a:path h="6692970" w="9191311">
                <a:moveTo>
                  <a:pt x="0" y="0"/>
                </a:moveTo>
                <a:lnTo>
                  <a:pt x="9191311" y="0"/>
                </a:lnTo>
                <a:lnTo>
                  <a:pt x="9191311" y="6692971"/>
                </a:lnTo>
                <a:lnTo>
                  <a:pt x="0" y="66929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1750829"/>
            <a:ext cx="14954653" cy="127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2"/>
              </a:lnSpc>
            </a:pPr>
            <a:r>
              <a:rPr lang="en-US" sz="10299" spc="-257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Theoretical Model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002059"/>
            <a:ext cx="4690653" cy="5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2"/>
              </a:lnSpc>
            </a:pPr>
            <a:r>
              <a:rPr lang="en-US" b="true" sz="3200" spc="-80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Merge work above cutoff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4742535"/>
            <a:ext cx="6362209" cy="5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2"/>
              </a:lnSpc>
            </a:pPr>
            <a:r>
              <a:rPr lang="en-US" b="true" sz="3200" spc="-80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Insertion Sort on leaf blocks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6506811"/>
            <a:ext cx="3181105" cy="5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2"/>
              </a:lnSpc>
            </a:pPr>
            <a:r>
              <a:rPr lang="en-US" b="true" sz="3200" spc="-80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Reference model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451692" y="7620246"/>
            <a:ext cx="6854094" cy="2221896"/>
            <a:chOff x="0" y="0"/>
            <a:chExt cx="3067611" cy="9944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67611" cy="994429"/>
            </a:xfrm>
            <a:custGeom>
              <a:avLst/>
              <a:gdLst/>
              <a:ahLst/>
              <a:cxnLst/>
              <a:rect r="r" b="b" t="t" l="l"/>
              <a:pathLst>
                <a:path h="994429" w="3067611">
                  <a:moveTo>
                    <a:pt x="44052" y="0"/>
                  </a:moveTo>
                  <a:lnTo>
                    <a:pt x="3023559" y="0"/>
                  </a:lnTo>
                  <a:cubicBezTo>
                    <a:pt x="3047888" y="0"/>
                    <a:pt x="3067611" y="19723"/>
                    <a:pt x="3067611" y="44052"/>
                  </a:cubicBezTo>
                  <a:lnTo>
                    <a:pt x="3067611" y="950377"/>
                  </a:lnTo>
                  <a:cubicBezTo>
                    <a:pt x="3067611" y="974706"/>
                    <a:pt x="3047888" y="994429"/>
                    <a:pt x="3023559" y="994429"/>
                  </a:cubicBezTo>
                  <a:lnTo>
                    <a:pt x="44052" y="994429"/>
                  </a:lnTo>
                  <a:cubicBezTo>
                    <a:pt x="19723" y="994429"/>
                    <a:pt x="0" y="974706"/>
                    <a:pt x="0" y="950377"/>
                  </a:cubicBezTo>
                  <a:lnTo>
                    <a:pt x="0" y="44052"/>
                  </a:lnTo>
                  <a:cubicBezTo>
                    <a:pt x="0" y="19723"/>
                    <a:pt x="19723" y="0"/>
                    <a:pt x="44052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67611" cy="1032529"/>
            </a:xfrm>
            <a:prstGeom prst="rect">
              <a:avLst/>
            </a:prstGeom>
          </p:spPr>
          <p:txBody>
            <a:bodyPr anchor="ctr" rtlCol="false" tIns="29894" lIns="29894" bIns="29894" rIns="2989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51692" y="7555528"/>
            <a:ext cx="6854094" cy="2221896"/>
            <a:chOff x="0" y="0"/>
            <a:chExt cx="3067611" cy="9944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67611" cy="994429"/>
            </a:xfrm>
            <a:custGeom>
              <a:avLst/>
              <a:gdLst/>
              <a:ahLst/>
              <a:cxnLst/>
              <a:rect r="r" b="b" t="t" l="l"/>
              <a:pathLst>
                <a:path h="994429" w="3067611">
                  <a:moveTo>
                    <a:pt x="44052" y="0"/>
                  </a:moveTo>
                  <a:lnTo>
                    <a:pt x="3023559" y="0"/>
                  </a:lnTo>
                  <a:cubicBezTo>
                    <a:pt x="3047888" y="0"/>
                    <a:pt x="3067611" y="19723"/>
                    <a:pt x="3067611" y="44052"/>
                  </a:cubicBezTo>
                  <a:lnTo>
                    <a:pt x="3067611" y="950377"/>
                  </a:lnTo>
                  <a:cubicBezTo>
                    <a:pt x="3067611" y="974706"/>
                    <a:pt x="3047888" y="994429"/>
                    <a:pt x="3023559" y="994429"/>
                  </a:cubicBezTo>
                  <a:lnTo>
                    <a:pt x="44052" y="994429"/>
                  </a:lnTo>
                  <a:cubicBezTo>
                    <a:pt x="19723" y="994429"/>
                    <a:pt x="0" y="974706"/>
                    <a:pt x="0" y="950377"/>
                  </a:cubicBezTo>
                  <a:lnTo>
                    <a:pt x="0" y="44052"/>
                  </a:lnTo>
                  <a:cubicBezTo>
                    <a:pt x="0" y="19723"/>
                    <a:pt x="19723" y="0"/>
                    <a:pt x="44052" y="0"/>
                  </a:cubicBezTo>
                  <a:close/>
                </a:path>
              </a:pathLst>
            </a:custGeom>
            <a:solidFill>
              <a:srgbClr val="C0DB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67611" cy="1032529"/>
            </a:xfrm>
            <a:prstGeom prst="rect">
              <a:avLst/>
            </a:prstGeom>
          </p:spPr>
          <p:txBody>
            <a:bodyPr anchor="ctr" rtlCol="false" tIns="29894" lIns="29894" bIns="29894" rIns="2989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729006" y="7796400"/>
            <a:ext cx="6033928" cy="115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2399" spc="-59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Theoretical expectation</a:t>
            </a:r>
          </a:p>
          <a:p>
            <a:pPr algn="l">
              <a:lnSpc>
                <a:spcPts val="3143"/>
              </a:lnSpc>
            </a:pPr>
          </a:p>
          <a:p>
            <a:pPr algn="l">
              <a:lnSpc>
                <a:spcPts val="3143"/>
              </a:lnSpc>
            </a:pPr>
            <a:r>
              <a:rPr lang="en-US" sz="2399" spc="-59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For fixed S, we therefore expect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636793" y="7707961"/>
            <a:ext cx="5243128" cy="1348065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31073" y="8610860"/>
            <a:ext cx="4111769" cy="1195921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9673872" y="7575429"/>
            <a:ext cx="6854094" cy="2247559"/>
            <a:chOff x="0" y="0"/>
            <a:chExt cx="3067611" cy="10059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67611" cy="1005915"/>
            </a:xfrm>
            <a:custGeom>
              <a:avLst/>
              <a:gdLst/>
              <a:ahLst/>
              <a:cxnLst/>
              <a:rect r="r" b="b" t="t" l="l"/>
              <a:pathLst>
                <a:path h="1005915" w="3067611">
                  <a:moveTo>
                    <a:pt x="44052" y="0"/>
                  </a:moveTo>
                  <a:lnTo>
                    <a:pt x="3023559" y="0"/>
                  </a:lnTo>
                  <a:cubicBezTo>
                    <a:pt x="3047888" y="0"/>
                    <a:pt x="3067611" y="19723"/>
                    <a:pt x="3067611" y="44052"/>
                  </a:cubicBezTo>
                  <a:lnTo>
                    <a:pt x="3067611" y="961863"/>
                  </a:lnTo>
                  <a:cubicBezTo>
                    <a:pt x="3067611" y="986192"/>
                    <a:pt x="3047888" y="1005915"/>
                    <a:pt x="3023559" y="1005915"/>
                  </a:cubicBezTo>
                  <a:lnTo>
                    <a:pt x="44052" y="1005915"/>
                  </a:lnTo>
                  <a:cubicBezTo>
                    <a:pt x="19723" y="1005915"/>
                    <a:pt x="0" y="986192"/>
                    <a:pt x="0" y="961863"/>
                  </a:cubicBezTo>
                  <a:lnTo>
                    <a:pt x="0" y="44052"/>
                  </a:lnTo>
                  <a:cubicBezTo>
                    <a:pt x="0" y="19723"/>
                    <a:pt x="19723" y="0"/>
                    <a:pt x="44052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067611" cy="1044015"/>
            </a:xfrm>
            <a:prstGeom prst="rect">
              <a:avLst/>
            </a:prstGeom>
          </p:spPr>
          <p:txBody>
            <a:bodyPr anchor="ctr" rtlCol="false" tIns="29894" lIns="29894" bIns="29894" rIns="2989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73872" y="7509963"/>
            <a:ext cx="6854094" cy="2247559"/>
            <a:chOff x="0" y="0"/>
            <a:chExt cx="3067611" cy="10059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67611" cy="1005915"/>
            </a:xfrm>
            <a:custGeom>
              <a:avLst/>
              <a:gdLst/>
              <a:ahLst/>
              <a:cxnLst/>
              <a:rect r="r" b="b" t="t" l="l"/>
              <a:pathLst>
                <a:path h="1005915" w="3067611">
                  <a:moveTo>
                    <a:pt x="44052" y="0"/>
                  </a:moveTo>
                  <a:lnTo>
                    <a:pt x="3023559" y="0"/>
                  </a:lnTo>
                  <a:cubicBezTo>
                    <a:pt x="3047888" y="0"/>
                    <a:pt x="3067611" y="19723"/>
                    <a:pt x="3067611" y="44052"/>
                  </a:cubicBezTo>
                  <a:lnTo>
                    <a:pt x="3067611" y="961863"/>
                  </a:lnTo>
                  <a:cubicBezTo>
                    <a:pt x="3067611" y="986192"/>
                    <a:pt x="3047888" y="1005915"/>
                    <a:pt x="3023559" y="1005915"/>
                  </a:cubicBezTo>
                  <a:lnTo>
                    <a:pt x="44052" y="1005915"/>
                  </a:lnTo>
                  <a:cubicBezTo>
                    <a:pt x="19723" y="1005915"/>
                    <a:pt x="0" y="986192"/>
                    <a:pt x="0" y="961863"/>
                  </a:cubicBezTo>
                  <a:lnTo>
                    <a:pt x="0" y="44052"/>
                  </a:lnTo>
                  <a:cubicBezTo>
                    <a:pt x="0" y="19723"/>
                    <a:pt x="19723" y="0"/>
                    <a:pt x="44052" y="0"/>
                  </a:cubicBezTo>
                  <a:close/>
                </a:path>
              </a:pathLst>
            </a:custGeom>
            <a:solidFill>
              <a:srgbClr val="C0DB4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067611" cy="1044015"/>
            </a:xfrm>
            <a:prstGeom prst="rect">
              <a:avLst/>
            </a:prstGeom>
          </p:spPr>
          <p:txBody>
            <a:bodyPr anchor="ctr" rtlCol="false" tIns="29894" lIns="29894" bIns="29894" rIns="29894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601885" y="2602684"/>
            <a:ext cx="13084230" cy="4497704"/>
          </a:xfrm>
          <a:custGeom>
            <a:avLst/>
            <a:gdLst/>
            <a:ahLst/>
            <a:cxnLst/>
            <a:rect r="r" b="b" t="t" l="l"/>
            <a:pathLst>
              <a:path h="4497704" w="13084230">
                <a:moveTo>
                  <a:pt x="0" y="0"/>
                </a:moveTo>
                <a:lnTo>
                  <a:pt x="13084230" y="0"/>
                </a:lnTo>
                <a:lnTo>
                  <a:pt x="13084230" y="4497704"/>
                </a:lnTo>
                <a:lnTo>
                  <a:pt x="0" y="4497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1408110"/>
            <a:ext cx="16922258" cy="109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8900" spc="-222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C(i): Fixed S, Varying Input Size 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51185" y="7750836"/>
            <a:ext cx="6350858" cy="193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2399" spc="-59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Empirical observation</a:t>
            </a:r>
          </a:p>
          <a:p>
            <a:pPr algn="l" marL="518016" indent="-259008" lvl="1">
              <a:lnSpc>
                <a:spcPts val="3143"/>
              </a:lnSpc>
              <a:buFont typeface="Arial"/>
              <a:buChar char="•"/>
            </a:pPr>
            <a:r>
              <a:rPr lang="en-US" b="true" sz="2399" spc="-59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                  </a:t>
            </a:r>
            <a:r>
              <a:rPr lang="en-US" sz="2399" spc="-59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remains roughly 0.95–1.04</a:t>
            </a:r>
          </a:p>
          <a:p>
            <a:pPr algn="l">
              <a:lnSpc>
                <a:spcPts val="3143"/>
              </a:lnSpc>
            </a:pPr>
          </a:p>
          <a:p>
            <a:pPr algn="l" marL="518016" indent="-259008" lvl="1">
              <a:lnSpc>
                <a:spcPts val="3143"/>
              </a:lnSpc>
              <a:buFont typeface="Arial"/>
              <a:buChar char="•"/>
            </a:pPr>
            <a:r>
              <a:rPr lang="en-US" sz="2399" spc="-59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A roughly stable normalized ratio supports proportional                      growth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386649" y="7945451"/>
            <a:ext cx="1289242" cy="822597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83761" y="9170595"/>
            <a:ext cx="1539732" cy="625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65184" y="2727141"/>
            <a:ext cx="6368492" cy="3191447"/>
            <a:chOff x="0" y="0"/>
            <a:chExt cx="8491323" cy="425526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20437"/>
              <a:ext cx="8491323" cy="4134826"/>
              <a:chOff x="0" y="0"/>
              <a:chExt cx="3339480" cy="16261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339479" cy="1626150"/>
              </a:xfrm>
              <a:custGeom>
                <a:avLst/>
                <a:gdLst/>
                <a:ahLst/>
                <a:cxnLst/>
                <a:rect r="r" b="b" t="t" l="l"/>
                <a:pathLst>
                  <a:path h="1626150" w="3339479">
                    <a:moveTo>
                      <a:pt x="40465" y="0"/>
                    </a:moveTo>
                    <a:lnTo>
                      <a:pt x="3299014" y="0"/>
                    </a:lnTo>
                    <a:cubicBezTo>
                      <a:pt x="3309746" y="0"/>
                      <a:pt x="3320039" y="4263"/>
                      <a:pt x="3327628" y="11852"/>
                    </a:cubicBezTo>
                    <a:cubicBezTo>
                      <a:pt x="3335216" y="19441"/>
                      <a:pt x="3339479" y="29733"/>
                      <a:pt x="3339479" y="40465"/>
                    </a:cubicBezTo>
                    <a:lnTo>
                      <a:pt x="3339479" y="1585685"/>
                    </a:lnTo>
                    <a:cubicBezTo>
                      <a:pt x="3339479" y="1608033"/>
                      <a:pt x="3321362" y="1626150"/>
                      <a:pt x="3299014" y="1626150"/>
                    </a:cubicBezTo>
                    <a:lnTo>
                      <a:pt x="40465" y="1626150"/>
                    </a:lnTo>
                    <a:cubicBezTo>
                      <a:pt x="29733" y="1626150"/>
                      <a:pt x="19441" y="1621887"/>
                      <a:pt x="11852" y="1614298"/>
                    </a:cubicBezTo>
                    <a:cubicBezTo>
                      <a:pt x="4263" y="1606709"/>
                      <a:pt x="0" y="1596417"/>
                      <a:pt x="0" y="1585685"/>
                    </a:cubicBezTo>
                    <a:lnTo>
                      <a:pt x="0" y="40465"/>
                    </a:lnTo>
                    <a:cubicBezTo>
                      <a:pt x="0" y="29733"/>
                      <a:pt x="4263" y="19441"/>
                      <a:pt x="11852" y="11852"/>
                    </a:cubicBezTo>
                    <a:cubicBezTo>
                      <a:pt x="19441" y="4263"/>
                      <a:pt x="29733" y="0"/>
                      <a:pt x="40465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339480" cy="1664250"/>
              </a:xfrm>
              <a:prstGeom prst="rect">
                <a:avLst/>
              </a:prstGeom>
            </p:spPr>
            <p:txBody>
              <a:bodyPr anchor="ctr" rtlCol="false" tIns="29894" lIns="29894" bIns="29894" rIns="2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8491323" cy="4134826"/>
              <a:chOff x="0" y="0"/>
              <a:chExt cx="3339480" cy="162615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339479" cy="1626150"/>
              </a:xfrm>
              <a:custGeom>
                <a:avLst/>
                <a:gdLst/>
                <a:ahLst/>
                <a:cxnLst/>
                <a:rect r="r" b="b" t="t" l="l"/>
                <a:pathLst>
                  <a:path h="1626150" w="3339479">
                    <a:moveTo>
                      <a:pt x="40465" y="0"/>
                    </a:moveTo>
                    <a:lnTo>
                      <a:pt x="3299014" y="0"/>
                    </a:lnTo>
                    <a:cubicBezTo>
                      <a:pt x="3309746" y="0"/>
                      <a:pt x="3320039" y="4263"/>
                      <a:pt x="3327628" y="11852"/>
                    </a:cubicBezTo>
                    <a:cubicBezTo>
                      <a:pt x="3335216" y="19441"/>
                      <a:pt x="3339479" y="29733"/>
                      <a:pt x="3339479" y="40465"/>
                    </a:cubicBezTo>
                    <a:lnTo>
                      <a:pt x="3339479" y="1585685"/>
                    </a:lnTo>
                    <a:cubicBezTo>
                      <a:pt x="3339479" y="1608033"/>
                      <a:pt x="3321362" y="1626150"/>
                      <a:pt x="3299014" y="1626150"/>
                    </a:cubicBezTo>
                    <a:lnTo>
                      <a:pt x="40465" y="1626150"/>
                    </a:lnTo>
                    <a:cubicBezTo>
                      <a:pt x="29733" y="1626150"/>
                      <a:pt x="19441" y="1621887"/>
                      <a:pt x="11852" y="1614298"/>
                    </a:cubicBezTo>
                    <a:cubicBezTo>
                      <a:pt x="4263" y="1606709"/>
                      <a:pt x="0" y="1596417"/>
                      <a:pt x="0" y="1585685"/>
                    </a:cubicBezTo>
                    <a:lnTo>
                      <a:pt x="0" y="40465"/>
                    </a:lnTo>
                    <a:cubicBezTo>
                      <a:pt x="0" y="29733"/>
                      <a:pt x="4263" y="19441"/>
                      <a:pt x="11852" y="11852"/>
                    </a:cubicBezTo>
                    <a:cubicBezTo>
                      <a:pt x="19441" y="4263"/>
                      <a:pt x="29733" y="0"/>
                      <a:pt x="40465" y="0"/>
                    </a:cubicBezTo>
                    <a:close/>
                  </a:path>
                </a:pathLst>
              </a:custGeom>
              <a:solidFill>
                <a:srgbClr val="C0DB4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3339480" cy="1664250"/>
              </a:xfrm>
              <a:prstGeom prst="rect">
                <a:avLst/>
              </a:prstGeom>
            </p:spPr>
            <p:txBody>
              <a:bodyPr anchor="ctr" rtlCol="false" tIns="29894" lIns="29894" bIns="29894" rIns="2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8754272" y="2727141"/>
            <a:ext cx="9061839" cy="5047827"/>
          </a:xfrm>
          <a:custGeom>
            <a:avLst/>
            <a:gdLst/>
            <a:ahLst/>
            <a:cxnLst/>
            <a:rect r="r" b="b" t="t" l="l"/>
            <a:pathLst>
              <a:path h="5047827" w="9061839">
                <a:moveTo>
                  <a:pt x="0" y="0"/>
                </a:moveTo>
                <a:lnTo>
                  <a:pt x="9061839" y="0"/>
                </a:lnTo>
                <a:lnTo>
                  <a:pt x="9061839" y="5047827"/>
                </a:lnTo>
                <a:lnTo>
                  <a:pt x="0" y="5047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41148" y="2948988"/>
            <a:ext cx="3041943" cy="2725074"/>
          </a:xfrm>
          <a:custGeom>
            <a:avLst/>
            <a:gdLst/>
            <a:ahLst/>
            <a:cxnLst/>
            <a:rect r="r" b="b" t="t" l="l"/>
            <a:pathLst>
              <a:path h="2725074" w="3041943">
                <a:moveTo>
                  <a:pt x="0" y="0"/>
                </a:moveTo>
                <a:lnTo>
                  <a:pt x="3041943" y="0"/>
                </a:lnTo>
                <a:lnTo>
                  <a:pt x="3041943" y="2725074"/>
                </a:lnTo>
                <a:lnTo>
                  <a:pt x="0" y="27250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294442"/>
            <a:ext cx="16922258" cy="109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8900" spc="-222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C(ii): Fixed n, Varying Threshold 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07642" y="3112018"/>
            <a:ext cx="4867012" cy="33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2047" spc="-51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Results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72187" y="3641961"/>
            <a:ext cx="1801320" cy="1333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S=64 performs </a:t>
            </a:r>
          </a:p>
          <a:p>
            <a:pPr algn="l">
              <a:lnSpc>
                <a:spcPts val="2682"/>
              </a:lnSpc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~51.6% more </a:t>
            </a:r>
          </a:p>
          <a:p>
            <a:pPr algn="l">
              <a:lnSpc>
                <a:spcPts val="2682"/>
              </a:lnSpc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comparisons </a:t>
            </a:r>
          </a:p>
          <a:p>
            <a:pPr algn="l">
              <a:lnSpc>
                <a:spcPts val="2682"/>
              </a:lnSpc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than S=2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65184" y="6251963"/>
            <a:ext cx="6368492" cy="3191447"/>
            <a:chOff x="0" y="0"/>
            <a:chExt cx="8491323" cy="425526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120437"/>
              <a:ext cx="8491323" cy="4134826"/>
              <a:chOff x="0" y="0"/>
              <a:chExt cx="3339480" cy="162615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339479" cy="1626150"/>
              </a:xfrm>
              <a:custGeom>
                <a:avLst/>
                <a:gdLst/>
                <a:ahLst/>
                <a:cxnLst/>
                <a:rect r="r" b="b" t="t" l="l"/>
                <a:pathLst>
                  <a:path h="1626150" w="3339479">
                    <a:moveTo>
                      <a:pt x="40465" y="0"/>
                    </a:moveTo>
                    <a:lnTo>
                      <a:pt x="3299014" y="0"/>
                    </a:lnTo>
                    <a:cubicBezTo>
                      <a:pt x="3309746" y="0"/>
                      <a:pt x="3320039" y="4263"/>
                      <a:pt x="3327628" y="11852"/>
                    </a:cubicBezTo>
                    <a:cubicBezTo>
                      <a:pt x="3335216" y="19441"/>
                      <a:pt x="3339479" y="29733"/>
                      <a:pt x="3339479" y="40465"/>
                    </a:cubicBezTo>
                    <a:lnTo>
                      <a:pt x="3339479" y="1585685"/>
                    </a:lnTo>
                    <a:cubicBezTo>
                      <a:pt x="3339479" y="1608033"/>
                      <a:pt x="3321362" y="1626150"/>
                      <a:pt x="3299014" y="1626150"/>
                    </a:cubicBezTo>
                    <a:lnTo>
                      <a:pt x="40465" y="1626150"/>
                    </a:lnTo>
                    <a:cubicBezTo>
                      <a:pt x="29733" y="1626150"/>
                      <a:pt x="19441" y="1621887"/>
                      <a:pt x="11852" y="1614298"/>
                    </a:cubicBezTo>
                    <a:cubicBezTo>
                      <a:pt x="4263" y="1606709"/>
                      <a:pt x="0" y="1596417"/>
                      <a:pt x="0" y="1585685"/>
                    </a:cubicBezTo>
                    <a:lnTo>
                      <a:pt x="0" y="40465"/>
                    </a:lnTo>
                    <a:cubicBezTo>
                      <a:pt x="0" y="29733"/>
                      <a:pt x="4263" y="19441"/>
                      <a:pt x="11852" y="11852"/>
                    </a:cubicBezTo>
                    <a:cubicBezTo>
                      <a:pt x="19441" y="4263"/>
                      <a:pt x="29733" y="0"/>
                      <a:pt x="40465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3339480" cy="1664250"/>
              </a:xfrm>
              <a:prstGeom prst="rect">
                <a:avLst/>
              </a:prstGeom>
            </p:spPr>
            <p:txBody>
              <a:bodyPr anchor="ctr" rtlCol="false" tIns="29894" lIns="29894" bIns="29894" rIns="2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8491323" cy="4134826"/>
              <a:chOff x="0" y="0"/>
              <a:chExt cx="3339480" cy="16261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339479" cy="1626150"/>
              </a:xfrm>
              <a:custGeom>
                <a:avLst/>
                <a:gdLst/>
                <a:ahLst/>
                <a:cxnLst/>
                <a:rect r="r" b="b" t="t" l="l"/>
                <a:pathLst>
                  <a:path h="1626150" w="3339479">
                    <a:moveTo>
                      <a:pt x="40465" y="0"/>
                    </a:moveTo>
                    <a:lnTo>
                      <a:pt x="3299014" y="0"/>
                    </a:lnTo>
                    <a:cubicBezTo>
                      <a:pt x="3309746" y="0"/>
                      <a:pt x="3320039" y="4263"/>
                      <a:pt x="3327628" y="11852"/>
                    </a:cubicBezTo>
                    <a:cubicBezTo>
                      <a:pt x="3335216" y="19441"/>
                      <a:pt x="3339479" y="29733"/>
                      <a:pt x="3339479" y="40465"/>
                    </a:cubicBezTo>
                    <a:lnTo>
                      <a:pt x="3339479" y="1585685"/>
                    </a:lnTo>
                    <a:cubicBezTo>
                      <a:pt x="3339479" y="1608033"/>
                      <a:pt x="3321362" y="1626150"/>
                      <a:pt x="3299014" y="1626150"/>
                    </a:cubicBezTo>
                    <a:lnTo>
                      <a:pt x="40465" y="1626150"/>
                    </a:lnTo>
                    <a:cubicBezTo>
                      <a:pt x="29733" y="1626150"/>
                      <a:pt x="19441" y="1621887"/>
                      <a:pt x="11852" y="1614298"/>
                    </a:cubicBezTo>
                    <a:cubicBezTo>
                      <a:pt x="4263" y="1606709"/>
                      <a:pt x="0" y="1596417"/>
                      <a:pt x="0" y="1585685"/>
                    </a:cubicBezTo>
                    <a:lnTo>
                      <a:pt x="0" y="40465"/>
                    </a:lnTo>
                    <a:cubicBezTo>
                      <a:pt x="0" y="29733"/>
                      <a:pt x="4263" y="19441"/>
                      <a:pt x="11852" y="11852"/>
                    </a:cubicBezTo>
                    <a:cubicBezTo>
                      <a:pt x="19441" y="4263"/>
                      <a:pt x="29733" y="0"/>
                      <a:pt x="40465" y="0"/>
                    </a:cubicBezTo>
                    <a:close/>
                  </a:path>
                </a:pathLst>
              </a:custGeom>
              <a:solidFill>
                <a:srgbClr val="C0DB4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3339480" cy="1664250"/>
              </a:xfrm>
              <a:prstGeom prst="rect">
                <a:avLst/>
              </a:prstGeom>
            </p:spPr>
            <p:txBody>
              <a:bodyPr anchor="ctr" rtlCol="false" tIns="29894" lIns="29894" bIns="29894" rIns="2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3" id="23"/>
          <p:cNvSpPr txBox="true"/>
          <p:nvPr/>
        </p:nvSpPr>
        <p:spPr>
          <a:xfrm rot="0">
            <a:off x="1807642" y="6636840"/>
            <a:ext cx="4867012" cy="33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2047" spc="-51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Interpretation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72187" y="7166783"/>
            <a:ext cx="5310904" cy="200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131" indent="-221066" lvl="1">
              <a:lnSpc>
                <a:spcPts val="2682"/>
              </a:lnSpc>
              <a:buFont typeface="Arial"/>
              <a:buChar char="•"/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Small S → more Merge Sort recursion, but small Insertion Sort leaves</a:t>
            </a:r>
          </a:p>
          <a:p>
            <a:pPr algn="l" marL="442131" indent="-221066" lvl="1">
              <a:lnSpc>
                <a:spcPts val="2682"/>
              </a:lnSpc>
              <a:buFont typeface="Arial"/>
              <a:buChar char="•"/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Large S → fewer recursive levels, but larger Insertion Sort leaves</a:t>
            </a:r>
          </a:p>
          <a:p>
            <a:pPr algn="l" marL="442131" indent="-221066" lvl="1">
              <a:lnSpc>
                <a:spcPts val="2682"/>
              </a:lnSpc>
              <a:buFont typeface="Arial"/>
              <a:buChar char="•"/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As S becomes large, the extra Insertion Sort work dominates the comparison count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54272" y="8079768"/>
            <a:ext cx="7574120" cy="33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2047" spc="-51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For key comparisons alone, the best tested threshold was S=2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87165" y="4140887"/>
            <a:ext cx="6368492" cy="3719663"/>
            <a:chOff x="0" y="0"/>
            <a:chExt cx="8491323" cy="495955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40370"/>
              <a:ext cx="8491323" cy="4819180"/>
              <a:chOff x="0" y="0"/>
              <a:chExt cx="3339480" cy="189529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339479" cy="1895294"/>
              </a:xfrm>
              <a:custGeom>
                <a:avLst/>
                <a:gdLst/>
                <a:ahLst/>
                <a:cxnLst/>
                <a:rect r="r" b="b" t="t" l="l"/>
                <a:pathLst>
                  <a:path h="1895294" w="3339479">
                    <a:moveTo>
                      <a:pt x="40465" y="0"/>
                    </a:moveTo>
                    <a:lnTo>
                      <a:pt x="3299014" y="0"/>
                    </a:lnTo>
                    <a:cubicBezTo>
                      <a:pt x="3309746" y="0"/>
                      <a:pt x="3320039" y="4263"/>
                      <a:pt x="3327628" y="11852"/>
                    </a:cubicBezTo>
                    <a:cubicBezTo>
                      <a:pt x="3335216" y="19441"/>
                      <a:pt x="3339479" y="29733"/>
                      <a:pt x="3339479" y="40465"/>
                    </a:cubicBezTo>
                    <a:lnTo>
                      <a:pt x="3339479" y="1854829"/>
                    </a:lnTo>
                    <a:cubicBezTo>
                      <a:pt x="3339479" y="1877177"/>
                      <a:pt x="3321362" y="1895294"/>
                      <a:pt x="3299014" y="1895294"/>
                    </a:cubicBezTo>
                    <a:lnTo>
                      <a:pt x="40465" y="1895294"/>
                    </a:lnTo>
                    <a:cubicBezTo>
                      <a:pt x="29733" y="1895294"/>
                      <a:pt x="19441" y="1891031"/>
                      <a:pt x="11852" y="1883442"/>
                    </a:cubicBezTo>
                    <a:cubicBezTo>
                      <a:pt x="4263" y="1875853"/>
                      <a:pt x="0" y="1865561"/>
                      <a:pt x="0" y="1854829"/>
                    </a:cubicBezTo>
                    <a:lnTo>
                      <a:pt x="0" y="40465"/>
                    </a:lnTo>
                    <a:cubicBezTo>
                      <a:pt x="0" y="29733"/>
                      <a:pt x="4263" y="19441"/>
                      <a:pt x="11852" y="11852"/>
                    </a:cubicBezTo>
                    <a:cubicBezTo>
                      <a:pt x="19441" y="4263"/>
                      <a:pt x="29733" y="0"/>
                      <a:pt x="40465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339480" cy="1933394"/>
              </a:xfrm>
              <a:prstGeom prst="rect">
                <a:avLst/>
              </a:prstGeom>
            </p:spPr>
            <p:txBody>
              <a:bodyPr anchor="ctr" rtlCol="false" tIns="29894" lIns="29894" bIns="29894" rIns="2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8491323" cy="4819180"/>
              <a:chOff x="0" y="0"/>
              <a:chExt cx="3339480" cy="189529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339479" cy="1895294"/>
              </a:xfrm>
              <a:custGeom>
                <a:avLst/>
                <a:gdLst/>
                <a:ahLst/>
                <a:cxnLst/>
                <a:rect r="r" b="b" t="t" l="l"/>
                <a:pathLst>
                  <a:path h="1895294" w="3339479">
                    <a:moveTo>
                      <a:pt x="40465" y="0"/>
                    </a:moveTo>
                    <a:lnTo>
                      <a:pt x="3299014" y="0"/>
                    </a:lnTo>
                    <a:cubicBezTo>
                      <a:pt x="3309746" y="0"/>
                      <a:pt x="3320039" y="4263"/>
                      <a:pt x="3327628" y="11852"/>
                    </a:cubicBezTo>
                    <a:cubicBezTo>
                      <a:pt x="3335216" y="19441"/>
                      <a:pt x="3339479" y="29733"/>
                      <a:pt x="3339479" y="40465"/>
                    </a:cubicBezTo>
                    <a:lnTo>
                      <a:pt x="3339479" y="1854829"/>
                    </a:lnTo>
                    <a:cubicBezTo>
                      <a:pt x="3339479" y="1877177"/>
                      <a:pt x="3321362" y="1895294"/>
                      <a:pt x="3299014" y="1895294"/>
                    </a:cubicBezTo>
                    <a:lnTo>
                      <a:pt x="40465" y="1895294"/>
                    </a:lnTo>
                    <a:cubicBezTo>
                      <a:pt x="29733" y="1895294"/>
                      <a:pt x="19441" y="1891031"/>
                      <a:pt x="11852" y="1883442"/>
                    </a:cubicBezTo>
                    <a:cubicBezTo>
                      <a:pt x="4263" y="1875853"/>
                      <a:pt x="0" y="1865561"/>
                      <a:pt x="0" y="1854829"/>
                    </a:cubicBezTo>
                    <a:lnTo>
                      <a:pt x="0" y="40465"/>
                    </a:lnTo>
                    <a:cubicBezTo>
                      <a:pt x="0" y="29733"/>
                      <a:pt x="4263" y="19441"/>
                      <a:pt x="11852" y="11852"/>
                    </a:cubicBezTo>
                    <a:cubicBezTo>
                      <a:pt x="19441" y="4263"/>
                      <a:pt x="29733" y="0"/>
                      <a:pt x="40465" y="0"/>
                    </a:cubicBezTo>
                    <a:close/>
                  </a:path>
                </a:pathLst>
              </a:custGeom>
              <a:solidFill>
                <a:srgbClr val="C0DB4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3339480" cy="1933394"/>
              </a:xfrm>
              <a:prstGeom prst="rect">
                <a:avLst/>
              </a:prstGeom>
            </p:spPr>
            <p:txBody>
              <a:bodyPr anchor="ctr" rtlCol="false" tIns="29894" lIns="29894" bIns="29894" rIns="2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9140403" y="4275669"/>
            <a:ext cx="8621434" cy="3032897"/>
          </a:xfrm>
          <a:custGeom>
            <a:avLst/>
            <a:gdLst/>
            <a:ahLst/>
            <a:cxnLst/>
            <a:rect r="r" b="b" t="t" l="l"/>
            <a:pathLst>
              <a:path h="3032897" w="8621434">
                <a:moveTo>
                  <a:pt x="0" y="0"/>
                </a:moveTo>
                <a:lnTo>
                  <a:pt x="8621435" y="0"/>
                </a:lnTo>
                <a:lnTo>
                  <a:pt x="8621435" y="3032898"/>
                </a:lnTo>
                <a:lnTo>
                  <a:pt x="0" y="3032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275392"/>
            <a:ext cx="16922258" cy="109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7"/>
              </a:lnSpc>
            </a:pPr>
            <a:r>
              <a:rPr lang="en-US" sz="8700" spc="-217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C(iii) Setup &amp; Finding a Practical 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9622" y="4525764"/>
            <a:ext cx="4867012" cy="33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2047" spc="-51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C(iii) experiment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4168" y="5055706"/>
            <a:ext cx="5310904" cy="2333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131" indent="-221066" lvl="1">
              <a:lnSpc>
                <a:spcPts val="2682"/>
              </a:lnSpc>
              <a:buFont typeface="Arial"/>
              <a:buChar char="•"/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Input sizes: 100,000; 500,000; 1,000,000; 5,000,000</a:t>
            </a:r>
          </a:p>
          <a:p>
            <a:pPr algn="l" marL="442131" indent="-221066" lvl="1">
              <a:lnSpc>
                <a:spcPts val="2682"/>
              </a:lnSpc>
              <a:buFont typeface="Arial"/>
              <a:buChar char="•"/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Tested S: 2, 4, 8, 12, 16, 20, 24, 32, 48, 64</a:t>
            </a:r>
          </a:p>
          <a:p>
            <a:pPr algn="l" marL="442131" indent="-221066" lvl="1">
              <a:lnSpc>
                <a:spcPts val="2682"/>
              </a:lnSpc>
              <a:buFont typeface="Arial"/>
              <a:buChar char="•"/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5 CPU-time runs per (n, S)</a:t>
            </a:r>
          </a:p>
          <a:p>
            <a:pPr algn="l" marL="442131" indent="-221066" lvl="1">
              <a:lnSpc>
                <a:spcPts val="2682"/>
              </a:lnSpc>
              <a:buFont typeface="Arial"/>
              <a:buChar char="•"/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Median CPU time used for stability and reduce sensitivity to noisy single timing runs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0403" y="3452075"/>
            <a:ext cx="7057821" cy="49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999" spc="-99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A) based on key comparisons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0403" y="7495257"/>
            <a:ext cx="7574120" cy="166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131" indent="-221066" lvl="1">
              <a:lnSpc>
                <a:spcPts val="2682"/>
              </a:lnSpc>
              <a:buFont typeface="Arial"/>
              <a:buChar char="•"/>
            </a:pPr>
            <a:r>
              <a:rPr lang="en-US" b="true" sz="2047" spc="-51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Least number of comparisons occur at S = 2 because the insertion-sort blocks are kept very small, minimizing its O(S^2) comparison cost</a:t>
            </a:r>
          </a:p>
          <a:p>
            <a:pPr algn="l" marL="442131" indent="-221066" lvl="1">
              <a:lnSpc>
                <a:spcPts val="2682"/>
              </a:lnSpc>
              <a:buFont typeface="Arial"/>
              <a:buChar char="•"/>
            </a:pPr>
            <a:r>
              <a:rPr lang="en-US" b="true" sz="2047" spc="-51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Comparison count increases as S grows because insertion-sort blocks become larger</a:t>
            </a:r>
          </a:p>
        </p:txBody>
      </p:sp>
      <p:sp>
        <p:nvSpPr>
          <p:cNvPr name="AutoShape 17" id="17"/>
          <p:cNvSpPr/>
          <p:nvPr/>
        </p:nvSpPr>
        <p:spPr>
          <a:xfrm flipH="true">
            <a:off x="8348030" y="2833780"/>
            <a:ext cx="0" cy="642452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508066"/>
            <a:ext cx="7057821" cy="49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999" spc="-99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B) based on CPU time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998286"/>
            <a:ext cx="6368492" cy="2663231"/>
            <a:chOff x="0" y="0"/>
            <a:chExt cx="8491323" cy="355097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00503"/>
              <a:ext cx="8491323" cy="3450471"/>
              <a:chOff x="0" y="0"/>
              <a:chExt cx="3339480" cy="135700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339479" cy="1357006"/>
              </a:xfrm>
              <a:custGeom>
                <a:avLst/>
                <a:gdLst/>
                <a:ahLst/>
                <a:cxnLst/>
                <a:rect r="r" b="b" t="t" l="l"/>
                <a:pathLst>
                  <a:path h="1357006" w="3339479">
                    <a:moveTo>
                      <a:pt x="40465" y="0"/>
                    </a:moveTo>
                    <a:lnTo>
                      <a:pt x="3299014" y="0"/>
                    </a:lnTo>
                    <a:cubicBezTo>
                      <a:pt x="3309746" y="0"/>
                      <a:pt x="3320039" y="4263"/>
                      <a:pt x="3327628" y="11852"/>
                    </a:cubicBezTo>
                    <a:cubicBezTo>
                      <a:pt x="3335216" y="19441"/>
                      <a:pt x="3339479" y="29733"/>
                      <a:pt x="3339479" y="40465"/>
                    </a:cubicBezTo>
                    <a:lnTo>
                      <a:pt x="3339479" y="1316541"/>
                    </a:lnTo>
                    <a:cubicBezTo>
                      <a:pt x="3339479" y="1338889"/>
                      <a:pt x="3321362" y="1357006"/>
                      <a:pt x="3299014" y="1357006"/>
                    </a:cubicBezTo>
                    <a:lnTo>
                      <a:pt x="40465" y="1357006"/>
                    </a:lnTo>
                    <a:cubicBezTo>
                      <a:pt x="29733" y="1357006"/>
                      <a:pt x="19441" y="1352743"/>
                      <a:pt x="11852" y="1345154"/>
                    </a:cubicBezTo>
                    <a:cubicBezTo>
                      <a:pt x="4263" y="1337565"/>
                      <a:pt x="0" y="1327273"/>
                      <a:pt x="0" y="1316541"/>
                    </a:cubicBezTo>
                    <a:lnTo>
                      <a:pt x="0" y="40465"/>
                    </a:lnTo>
                    <a:cubicBezTo>
                      <a:pt x="0" y="29733"/>
                      <a:pt x="4263" y="19441"/>
                      <a:pt x="11852" y="11852"/>
                    </a:cubicBezTo>
                    <a:cubicBezTo>
                      <a:pt x="19441" y="4263"/>
                      <a:pt x="29733" y="0"/>
                      <a:pt x="40465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339480" cy="1395106"/>
              </a:xfrm>
              <a:prstGeom prst="rect">
                <a:avLst/>
              </a:prstGeom>
            </p:spPr>
            <p:txBody>
              <a:bodyPr anchor="ctr" rtlCol="false" tIns="29894" lIns="29894" bIns="29894" rIns="2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8491323" cy="3450471"/>
              <a:chOff x="0" y="0"/>
              <a:chExt cx="3339480" cy="135700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339479" cy="1357006"/>
              </a:xfrm>
              <a:custGeom>
                <a:avLst/>
                <a:gdLst/>
                <a:ahLst/>
                <a:cxnLst/>
                <a:rect r="r" b="b" t="t" l="l"/>
                <a:pathLst>
                  <a:path h="1357006" w="3339479">
                    <a:moveTo>
                      <a:pt x="40465" y="0"/>
                    </a:moveTo>
                    <a:lnTo>
                      <a:pt x="3299014" y="0"/>
                    </a:lnTo>
                    <a:cubicBezTo>
                      <a:pt x="3309746" y="0"/>
                      <a:pt x="3320039" y="4263"/>
                      <a:pt x="3327628" y="11852"/>
                    </a:cubicBezTo>
                    <a:cubicBezTo>
                      <a:pt x="3335216" y="19441"/>
                      <a:pt x="3339479" y="29733"/>
                      <a:pt x="3339479" y="40465"/>
                    </a:cubicBezTo>
                    <a:lnTo>
                      <a:pt x="3339479" y="1316541"/>
                    </a:lnTo>
                    <a:cubicBezTo>
                      <a:pt x="3339479" y="1338889"/>
                      <a:pt x="3321362" y="1357006"/>
                      <a:pt x="3299014" y="1357006"/>
                    </a:cubicBezTo>
                    <a:lnTo>
                      <a:pt x="40465" y="1357006"/>
                    </a:lnTo>
                    <a:cubicBezTo>
                      <a:pt x="29733" y="1357006"/>
                      <a:pt x="19441" y="1352743"/>
                      <a:pt x="11852" y="1345154"/>
                    </a:cubicBezTo>
                    <a:cubicBezTo>
                      <a:pt x="4263" y="1337565"/>
                      <a:pt x="0" y="1327273"/>
                      <a:pt x="0" y="1316541"/>
                    </a:cubicBezTo>
                    <a:lnTo>
                      <a:pt x="0" y="40465"/>
                    </a:lnTo>
                    <a:cubicBezTo>
                      <a:pt x="0" y="29733"/>
                      <a:pt x="4263" y="19441"/>
                      <a:pt x="11852" y="11852"/>
                    </a:cubicBezTo>
                    <a:cubicBezTo>
                      <a:pt x="19441" y="4263"/>
                      <a:pt x="29733" y="0"/>
                      <a:pt x="40465" y="0"/>
                    </a:cubicBezTo>
                    <a:close/>
                  </a:path>
                </a:pathLst>
              </a:custGeom>
              <a:solidFill>
                <a:srgbClr val="C0DB4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3339480" cy="1395106"/>
              </a:xfrm>
              <a:prstGeom prst="rect">
                <a:avLst/>
              </a:prstGeom>
            </p:spPr>
            <p:txBody>
              <a:bodyPr anchor="ctr" rtlCol="false" tIns="29894" lIns="29894" bIns="29894" rIns="2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1028700" y="5832967"/>
            <a:ext cx="7325054" cy="4085523"/>
          </a:xfrm>
          <a:custGeom>
            <a:avLst/>
            <a:gdLst/>
            <a:ahLst/>
            <a:cxnLst/>
            <a:rect r="r" b="b" t="t" l="l"/>
            <a:pathLst>
              <a:path h="4085523" w="7325054">
                <a:moveTo>
                  <a:pt x="0" y="0"/>
                </a:moveTo>
                <a:lnTo>
                  <a:pt x="7325054" y="0"/>
                </a:lnTo>
                <a:lnTo>
                  <a:pt x="7325054" y="4085523"/>
                </a:lnTo>
                <a:lnTo>
                  <a:pt x="0" y="4085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89829" y="2393766"/>
            <a:ext cx="6916418" cy="4282469"/>
          </a:xfrm>
          <a:custGeom>
            <a:avLst/>
            <a:gdLst/>
            <a:ahLst/>
            <a:cxnLst/>
            <a:rect r="r" b="b" t="t" l="l"/>
            <a:pathLst>
              <a:path h="4282469" w="6916418">
                <a:moveTo>
                  <a:pt x="0" y="0"/>
                </a:moveTo>
                <a:lnTo>
                  <a:pt x="6916418" y="0"/>
                </a:lnTo>
                <a:lnTo>
                  <a:pt x="6916418" y="4282469"/>
                </a:lnTo>
                <a:lnTo>
                  <a:pt x="0" y="4282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89829" y="7137201"/>
            <a:ext cx="8141996" cy="2561777"/>
          </a:xfrm>
          <a:custGeom>
            <a:avLst/>
            <a:gdLst/>
            <a:ahLst/>
            <a:cxnLst/>
            <a:rect r="r" b="b" t="t" l="l"/>
            <a:pathLst>
              <a:path h="2561777" w="8141996">
                <a:moveTo>
                  <a:pt x="0" y="0"/>
                </a:moveTo>
                <a:lnTo>
                  <a:pt x="8141996" y="0"/>
                </a:lnTo>
                <a:lnTo>
                  <a:pt x="8141996" y="2561777"/>
                </a:lnTo>
                <a:lnTo>
                  <a:pt x="0" y="2561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294442"/>
            <a:ext cx="16922258" cy="109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8900" spc="-222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C(iii) Finding the Practical 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Jacqueline Thompson, 2028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9104" y="3207836"/>
            <a:ext cx="4867012" cy="33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2047" spc="-51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How we selected practical threshold 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3649" y="3737778"/>
            <a:ext cx="5310904" cy="166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131" indent="-221066" lvl="1">
              <a:lnSpc>
                <a:spcPts val="2682"/>
              </a:lnSpc>
              <a:buFont typeface="Arial"/>
              <a:buChar char="•"/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For each n, normalize each median runtime by the fastest measured runtime for that n</a:t>
            </a:r>
          </a:p>
          <a:p>
            <a:pPr algn="l" marL="442131" indent="-221066" lvl="1">
              <a:lnSpc>
                <a:spcPts val="2682"/>
              </a:lnSpc>
              <a:buFont typeface="Arial"/>
              <a:buChar char="•"/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Average the relative runtime across all four input sizes</a:t>
            </a:r>
          </a:p>
          <a:p>
            <a:pPr algn="l" marL="442131" indent="-221066" lvl="1">
              <a:lnSpc>
                <a:spcPts val="2682"/>
              </a:lnSpc>
              <a:buFont typeface="Arial"/>
              <a:buChar char="•"/>
            </a:pPr>
            <a:r>
              <a:rPr lang="en-US" sz="2047" spc="-51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Select the S with the lowest average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68430" y="2374282"/>
            <a:ext cx="6286262" cy="3633565"/>
            <a:chOff x="0" y="0"/>
            <a:chExt cx="8381682" cy="484475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37121"/>
              <a:ext cx="8381682" cy="4707632"/>
              <a:chOff x="0" y="0"/>
              <a:chExt cx="2813472" cy="158020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813472" cy="1580207"/>
              </a:xfrm>
              <a:custGeom>
                <a:avLst/>
                <a:gdLst/>
                <a:ahLst/>
                <a:cxnLst/>
                <a:rect r="r" b="b" t="t" l="l"/>
                <a:pathLst>
                  <a:path h="1580207" w="2813472">
                    <a:moveTo>
                      <a:pt x="48031" y="0"/>
                    </a:moveTo>
                    <a:lnTo>
                      <a:pt x="2765441" y="0"/>
                    </a:lnTo>
                    <a:cubicBezTo>
                      <a:pt x="2791968" y="0"/>
                      <a:pt x="2813472" y="21504"/>
                      <a:pt x="2813472" y="48031"/>
                    </a:cubicBezTo>
                    <a:lnTo>
                      <a:pt x="2813472" y="1532176"/>
                    </a:lnTo>
                    <a:cubicBezTo>
                      <a:pt x="2813472" y="1558703"/>
                      <a:pt x="2791968" y="1580207"/>
                      <a:pt x="2765441" y="1580207"/>
                    </a:cubicBezTo>
                    <a:lnTo>
                      <a:pt x="48031" y="1580207"/>
                    </a:lnTo>
                    <a:cubicBezTo>
                      <a:pt x="21504" y="1580207"/>
                      <a:pt x="0" y="1558703"/>
                      <a:pt x="0" y="1532176"/>
                    </a:cubicBezTo>
                    <a:lnTo>
                      <a:pt x="0" y="48031"/>
                    </a:lnTo>
                    <a:cubicBezTo>
                      <a:pt x="0" y="21504"/>
                      <a:pt x="21504" y="0"/>
                      <a:pt x="48031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813472" cy="1618307"/>
              </a:xfrm>
              <a:prstGeom prst="rect">
                <a:avLst/>
              </a:prstGeom>
            </p:spPr>
            <p:txBody>
              <a:bodyPr anchor="ctr" rtlCol="false" tIns="29894" lIns="29894" bIns="29894" rIns="2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8381682" cy="4707632"/>
              <a:chOff x="0" y="0"/>
              <a:chExt cx="2813472" cy="158020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813472" cy="1580207"/>
              </a:xfrm>
              <a:custGeom>
                <a:avLst/>
                <a:gdLst/>
                <a:ahLst/>
                <a:cxnLst/>
                <a:rect r="r" b="b" t="t" l="l"/>
                <a:pathLst>
                  <a:path h="1580207" w="2813472">
                    <a:moveTo>
                      <a:pt x="48031" y="0"/>
                    </a:moveTo>
                    <a:lnTo>
                      <a:pt x="2765441" y="0"/>
                    </a:lnTo>
                    <a:cubicBezTo>
                      <a:pt x="2791968" y="0"/>
                      <a:pt x="2813472" y="21504"/>
                      <a:pt x="2813472" y="48031"/>
                    </a:cubicBezTo>
                    <a:lnTo>
                      <a:pt x="2813472" y="1532176"/>
                    </a:lnTo>
                    <a:cubicBezTo>
                      <a:pt x="2813472" y="1558703"/>
                      <a:pt x="2791968" y="1580207"/>
                      <a:pt x="2765441" y="1580207"/>
                    </a:cubicBezTo>
                    <a:lnTo>
                      <a:pt x="48031" y="1580207"/>
                    </a:lnTo>
                    <a:cubicBezTo>
                      <a:pt x="21504" y="1580207"/>
                      <a:pt x="0" y="1558703"/>
                      <a:pt x="0" y="1532176"/>
                    </a:cubicBezTo>
                    <a:lnTo>
                      <a:pt x="0" y="48031"/>
                    </a:lnTo>
                    <a:cubicBezTo>
                      <a:pt x="0" y="21504"/>
                      <a:pt x="21504" y="0"/>
                      <a:pt x="48031" y="0"/>
                    </a:cubicBezTo>
                    <a:close/>
                  </a:path>
                </a:pathLst>
              </a:custGeom>
              <a:solidFill>
                <a:srgbClr val="C0DB4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813472" cy="1618307"/>
              </a:xfrm>
              <a:prstGeom prst="rect">
                <a:avLst/>
              </a:prstGeom>
            </p:spPr>
            <p:txBody>
              <a:bodyPr anchor="ctr" rtlCol="false" tIns="29894" lIns="29894" bIns="29894" rIns="2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7052756" y="6160252"/>
            <a:ext cx="5703325" cy="3633570"/>
          </a:xfrm>
          <a:custGeom>
            <a:avLst/>
            <a:gdLst/>
            <a:ahLst/>
            <a:cxnLst/>
            <a:rect r="r" b="b" t="t" l="l"/>
            <a:pathLst>
              <a:path h="3633570" w="5703325">
                <a:moveTo>
                  <a:pt x="0" y="0"/>
                </a:moveTo>
                <a:lnTo>
                  <a:pt x="5703325" y="0"/>
                </a:lnTo>
                <a:lnTo>
                  <a:pt x="5703325" y="3633570"/>
                </a:lnTo>
                <a:lnTo>
                  <a:pt x="0" y="3633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052756" y="2374282"/>
            <a:ext cx="5703325" cy="3633570"/>
          </a:xfrm>
          <a:custGeom>
            <a:avLst/>
            <a:gdLst/>
            <a:ahLst/>
            <a:cxnLst/>
            <a:rect r="r" b="b" t="t" l="l"/>
            <a:pathLst>
              <a:path h="3633570" w="5703325">
                <a:moveTo>
                  <a:pt x="0" y="0"/>
                </a:moveTo>
                <a:lnTo>
                  <a:pt x="5703325" y="0"/>
                </a:lnTo>
                <a:lnTo>
                  <a:pt x="5703325" y="3633570"/>
                </a:lnTo>
                <a:lnTo>
                  <a:pt x="0" y="3633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8430" y="1204047"/>
            <a:ext cx="17767404" cy="100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2"/>
              </a:lnSpc>
            </a:pPr>
            <a:r>
              <a:rPr lang="en-US" sz="8200" spc="-205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Part D: Original Merge vs Hybrid Sort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5743" y="2615155"/>
            <a:ext cx="6350858" cy="310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2399" spc="-59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Part D setup</a:t>
            </a:r>
          </a:p>
          <a:p>
            <a:pPr algn="l" marL="518016" indent="-259008" lvl="1">
              <a:lnSpc>
                <a:spcPts val="3143"/>
              </a:lnSpc>
              <a:buFont typeface="Arial"/>
              <a:buChar char="•"/>
            </a:pPr>
            <a:r>
              <a:rPr lang="en-US" sz="2399" spc="-59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 n = 10,000,000</a:t>
            </a:r>
          </a:p>
          <a:p>
            <a:pPr algn="l" marL="518016" indent="-259008" lvl="1">
              <a:lnSpc>
                <a:spcPts val="3143"/>
              </a:lnSpc>
              <a:buFont typeface="Arial"/>
              <a:buChar char="•"/>
            </a:pPr>
            <a:r>
              <a:rPr lang="en-US" sz="2399" spc="-59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Hybrid threshold: S = 16</a:t>
            </a:r>
          </a:p>
          <a:p>
            <a:pPr algn="l" marL="518016" indent="-259008" lvl="1">
              <a:lnSpc>
                <a:spcPts val="3143"/>
              </a:lnSpc>
              <a:buFont typeface="Arial"/>
              <a:buChar char="•"/>
            </a:pPr>
            <a:r>
              <a:rPr lang="en-US" sz="2399" spc="-59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3 timing runs per algorithm</a:t>
            </a:r>
          </a:p>
          <a:p>
            <a:pPr algn="l" marL="518016" indent="-259008" lvl="1">
              <a:lnSpc>
                <a:spcPts val="3143"/>
              </a:lnSpc>
              <a:buFont typeface="Arial"/>
              <a:buChar char="•"/>
            </a:pPr>
            <a:r>
              <a:rPr lang="en-US" sz="2399" spc="-59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Counterbalanced order:</a:t>
            </a:r>
          </a:p>
          <a:p>
            <a:pPr algn="l" marL="1036032" indent="-345344" lvl="2">
              <a:lnSpc>
                <a:spcPts val="3143"/>
              </a:lnSpc>
              <a:buFont typeface="Arial"/>
              <a:buChar char="⚬"/>
            </a:pPr>
            <a:r>
              <a:rPr lang="en-US" sz="2399" spc="-59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Merge → Hybrid → Hybrid → Merge → Merge → Hybrid</a:t>
            </a:r>
          </a:p>
          <a:p>
            <a:pPr algn="l" marL="1036032" indent="-345344" lvl="2">
              <a:lnSpc>
                <a:spcPts val="3143"/>
              </a:lnSpc>
              <a:buFont typeface="Arial"/>
              <a:buChar char="⚬"/>
            </a:pPr>
            <a:r>
              <a:rPr lang="en-US" sz="2399" spc="-59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Done to reduce run-order bias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368430" y="7024537"/>
          <a:ext cx="5090018" cy="1905000"/>
        </p:xfrm>
        <a:graphic>
          <a:graphicData uri="http://schemas.openxmlformats.org/drawingml/2006/table">
            <a:tbl>
              <a:tblPr/>
              <a:tblGrid>
                <a:gridCol w="1746491"/>
                <a:gridCol w="1167322"/>
                <a:gridCol w="2176205"/>
              </a:tblGrid>
              <a:tr h="7562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Algorithm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Comparisons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Median CPU Time (sec)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41"/>
                    </a:solidFill>
                  </a:tcPr>
                </a:tc>
              </a:tr>
              <a:tr h="449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Hybrid Sort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226415036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25.609375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41"/>
                    </a:solidFill>
                  </a:tcPr>
                </a:tc>
              </a:tr>
              <a:tr h="6988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Original Merge Sort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220098332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30.15625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B41"/>
                    </a:solidFill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13185574" y="3634708"/>
            <a:ext cx="4754435" cy="4342329"/>
            <a:chOff x="0" y="0"/>
            <a:chExt cx="6339247" cy="578977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73832"/>
              <a:ext cx="6339247" cy="2534806"/>
              <a:chOff x="0" y="0"/>
              <a:chExt cx="2127890" cy="85085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27889" cy="850856"/>
              </a:xfrm>
              <a:custGeom>
                <a:avLst/>
                <a:gdLst/>
                <a:ahLst/>
                <a:cxnLst/>
                <a:rect r="r" b="b" t="t" l="l"/>
                <a:pathLst>
                  <a:path h="850856" w="2127889">
                    <a:moveTo>
                      <a:pt x="63506" y="0"/>
                    </a:moveTo>
                    <a:lnTo>
                      <a:pt x="2064383" y="0"/>
                    </a:lnTo>
                    <a:cubicBezTo>
                      <a:pt x="2099457" y="0"/>
                      <a:pt x="2127889" y="28433"/>
                      <a:pt x="2127889" y="63506"/>
                    </a:cubicBezTo>
                    <a:lnTo>
                      <a:pt x="2127889" y="787350"/>
                    </a:lnTo>
                    <a:cubicBezTo>
                      <a:pt x="2127889" y="822424"/>
                      <a:pt x="2099457" y="850856"/>
                      <a:pt x="2064383" y="850856"/>
                    </a:cubicBezTo>
                    <a:lnTo>
                      <a:pt x="63506" y="850856"/>
                    </a:lnTo>
                    <a:cubicBezTo>
                      <a:pt x="28433" y="850856"/>
                      <a:pt x="0" y="822424"/>
                      <a:pt x="0" y="787350"/>
                    </a:cubicBezTo>
                    <a:lnTo>
                      <a:pt x="0" y="63506"/>
                    </a:lnTo>
                    <a:cubicBezTo>
                      <a:pt x="0" y="28433"/>
                      <a:pt x="28433" y="0"/>
                      <a:pt x="63506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127890" cy="888956"/>
              </a:xfrm>
              <a:prstGeom prst="rect">
                <a:avLst/>
              </a:prstGeom>
            </p:spPr>
            <p:txBody>
              <a:bodyPr anchor="ctr" rtlCol="false" tIns="29894" lIns="29894" bIns="29894" rIns="2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6339247" cy="5789772"/>
              <a:chOff x="0" y="0"/>
              <a:chExt cx="2127890" cy="194344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127889" cy="1943448"/>
              </a:xfrm>
              <a:custGeom>
                <a:avLst/>
                <a:gdLst/>
                <a:ahLst/>
                <a:cxnLst/>
                <a:rect r="r" b="b" t="t" l="l"/>
                <a:pathLst>
                  <a:path h="1943448" w="2127889">
                    <a:moveTo>
                      <a:pt x="63506" y="0"/>
                    </a:moveTo>
                    <a:lnTo>
                      <a:pt x="2064383" y="0"/>
                    </a:lnTo>
                    <a:cubicBezTo>
                      <a:pt x="2099457" y="0"/>
                      <a:pt x="2127889" y="28433"/>
                      <a:pt x="2127889" y="63506"/>
                    </a:cubicBezTo>
                    <a:lnTo>
                      <a:pt x="2127889" y="1879942"/>
                    </a:lnTo>
                    <a:cubicBezTo>
                      <a:pt x="2127889" y="1915015"/>
                      <a:pt x="2099457" y="1943448"/>
                      <a:pt x="2064383" y="1943448"/>
                    </a:cubicBezTo>
                    <a:lnTo>
                      <a:pt x="63506" y="1943448"/>
                    </a:lnTo>
                    <a:cubicBezTo>
                      <a:pt x="28433" y="1943448"/>
                      <a:pt x="0" y="1915015"/>
                      <a:pt x="0" y="1879942"/>
                    </a:cubicBezTo>
                    <a:lnTo>
                      <a:pt x="0" y="63506"/>
                    </a:lnTo>
                    <a:cubicBezTo>
                      <a:pt x="0" y="28433"/>
                      <a:pt x="28433" y="0"/>
                      <a:pt x="63506" y="0"/>
                    </a:cubicBezTo>
                    <a:close/>
                  </a:path>
                </a:pathLst>
              </a:custGeom>
              <a:solidFill>
                <a:srgbClr val="C0DB4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127890" cy="1981548"/>
              </a:xfrm>
              <a:prstGeom prst="rect">
                <a:avLst/>
              </a:prstGeom>
            </p:spPr>
            <p:txBody>
              <a:bodyPr anchor="ctr" rtlCol="false" tIns="29894" lIns="29894" bIns="29894" rIns="2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16182" y="327514"/>
              <a:ext cx="5690195" cy="518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3"/>
                </a:lnSpc>
              </a:pPr>
              <a:r>
                <a:rPr lang="en-US" sz="2399" spc="-59" b="true">
                  <a:solidFill>
                    <a:srgbClr val="2E2E2E"/>
                  </a:solidFill>
                  <a:latin typeface="Body Grotesque Bold"/>
                  <a:ea typeface="Body Grotesque Bold"/>
                  <a:cs typeface="Body Grotesque Bold"/>
                  <a:sym typeface="Body Grotesque Bold"/>
                </a:rPr>
                <a:t>Key differences</a:t>
              </a:r>
            </a:p>
            <a:p>
              <a:pPr algn="l" marL="518016" indent="-259008" lvl="1">
                <a:lnSpc>
                  <a:spcPts val="3143"/>
                </a:lnSpc>
                <a:buFont typeface="Arial"/>
                <a:buChar char="•"/>
              </a:pPr>
              <a:r>
                <a:rPr lang="en-US" sz="2399" spc="-59">
                  <a:solidFill>
                    <a:srgbClr val="2E2E2E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 Hybrid: +2.870% key comparisons</a:t>
              </a:r>
            </a:p>
            <a:p>
              <a:pPr algn="l" marL="518016" indent="-259008" lvl="1">
                <a:lnSpc>
                  <a:spcPts val="3143"/>
                </a:lnSpc>
                <a:buFont typeface="Arial"/>
                <a:buChar char="•"/>
              </a:pPr>
              <a:r>
                <a:rPr lang="en-US" sz="2399" spc="-59">
                  <a:solidFill>
                    <a:srgbClr val="2E2E2E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Hybrid: −15.078% CPU time</a:t>
              </a:r>
            </a:p>
            <a:p>
              <a:pPr algn="l" marL="518016" indent="-259008" lvl="1">
                <a:lnSpc>
                  <a:spcPts val="3143"/>
                </a:lnSpc>
                <a:buFont typeface="Arial"/>
                <a:buChar char="•"/>
              </a:pPr>
              <a:r>
                <a:rPr lang="en-US" sz="2399" spc="-59">
                  <a:solidFill>
                    <a:srgbClr val="2E2E2E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Spe</a:t>
              </a:r>
              <a:r>
                <a:rPr lang="en-US" sz="2399" spc="-59">
                  <a:solidFill>
                    <a:srgbClr val="2E2E2E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edup: 1.178×</a:t>
              </a:r>
            </a:p>
            <a:p>
              <a:pPr algn="l">
                <a:lnSpc>
                  <a:spcPts val="3143"/>
                </a:lnSpc>
              </a:pPr>
            </a:p>
            <a:p>
              <a:pPr algn="l">
                <a:lnSpc>
                  <a:spcPts val="3143"/>
                </a:lnSpc>
              </a:pPr>
              <a:r>
                <a:rPr lang="en-US" sz="2399" spc="-59">
                  <a:solidFill>
                    <a:srgbClr val="2E2E2E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More comparisons did not mean slower execution: Hybrid Sort was ~15.1% faster in our experiment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68430" y="6398372"/>
            <a:ext cx="1381129" cy="5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2"/>
              </a:lnSpc>
            </a:pPr>
            <a:r>
              <a:rPr lang="en-US" b="true" sz="3200" spc="-80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Result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804282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836554"/>
            <a:ext cx="11323167" cy="167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57"/>
              </a:lnSpc>
            </a:pPr>
            <a:r>
              <a:rPr lang="en-US" sz="13469" spc="-336" b="true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0573" y="3566123"/>
            <a:ext cx="7186053" cy="342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Hybrid Merge/Insertion Sort preserves the expected Θ(nlog⁡n) behaviour when the threshold S is fixed. 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Our experiments also showed the expected trade-off: increasing SS reduces recursive Merge Sort work, but causes Insertion Sort to handle larger subarrays and perform more key comparisons.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28876" y="3566123"/>
            <a:ext cx="8202869" cy="342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For practical performance, minimum comparisons did not correspond to minimum CPU time. Using results across multiple input sizes, we selected S=16 as the best aggregate measured threshold for our implementation.</a:t>
            </a:r>
          </a:p>
          <a:p>
            <a:pPr algn="l" marL="561341" indent="-280670" lvl="1">
              <a:lnSpc>
                <a:spcPts val="3406"/>
              </a:lnSpc>
              <a:buFont typeface="Arial"/>
              <a:buChar char="•"/>
            </a:pPr>
            <a:r>
              <a:rPr lang="en-US" sz="2600" spc="-65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At n=10,000,000, the Hybrid Sort used slightly more comparisons but achieved lower median CPU time than standard Merge Sort.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0573" y="7465797"/>
            <a:ext cx="16351172" cy="84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b="true" sz="2600" spc="-65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Overall, the hybrid approach improved practical runtime by reducing recursion and merge overhead on small subarrays, rather than by minimizing the number of comparisons.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868597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804282"/>
            <a:ext cx="18288000" cy="0"/>
          </a:xfrm>
          <a:prstGeom prst="line">
            <a:avLst/>
          </a:prstGeom>
          <a:ln cap="flat" w="19050">
            <a:solidFill>
              <a:srgbClr val="2E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482417" y="2482850"/>
            <a:ext cx="11323167" cy="600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9"/>
              </a:lnSpc>
            </a:pPr>
            <a:r>
              <a:rPr lang="en-US" b="true" sz="24999" spc="-624">
                <a:solidFill>
                  <a:srgbClr val="2E2E2E"/>
                </a:solidFill>
                <a:latin typeface="Body Grotesque Bold"/>
                <a:ea typeface="Body Grotesque Bold"/>
                <a:cs typeface="Body Grotesque Bold"/>
                <a:sym typeface="Body Grotesque Bold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7417"/>
            <a:ext cx="746338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spc="-62">
                <a:solidFill>
                  <a:srgbClr val="2E2E2E"/>
                </a:solidFill>
                <a:latin typeface="Body Grotesque"/>
                <a:ea typeface="Body Grotesque"/>
                <a:cs typeface="Body Grotesque"/>
                <a:sym typeface="Body Grotesque"/>
              </a:rPr>
              <a:t>Team 7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665799" y="2769964"/>
            <a:ext cx="1627719" cy="2172925"/>
          </a:xfrm>
          <a:custGeom>
            <a:avLst/>
            <a:gdLst/>
            <a:ahLst/>
            <a:cxnLst/>
            <a:rect r="r" b="b" t="t" l="l"/>
            <a:pathLst>
              <a:path h="2172925" w="1627719">
                <a:moveTo>
                  <a:pt x="1627719" y="0"/>
                </a:moveTo>
                <a:lnTo>
                  <a:pt x="0" y="0"/>
                </a:lnTo>
                <a:lnTo>
                  <a:pt x="0" y="2172925"/>
                </a:lnTo>
                <a:lnTo>
                  <a:pt x="1627719" y="2172925"/>
                </a:lnTo>
                <a:lnTo>
                  <a:pt x="162771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623031">
            <a:off x="9575670" y="1224688"/>
            <a:ext cx="1105262" cy="1044975"/>
          </a:xfrm>
          <a:custGeom>
            <a:avLst/>
            <a:gdLst/>
            <a:ahLst/>
            <a:cxnLst/>
            <a:rect r="r" b="b" t="t" l="l"/>
            <a:pathLst>
              <a:path h="1044975" w="1105262">
                <a:moveTo>
                  <a:pt x="0" y="0"/>
                </a:moveTo>
                <a:lnTo>
                  <a:pt x="1105262" y="0"/>
                </a:lnTo>
                <a:lnTo>
                  <a:pt x="1105262" y="1044975"/>
                </a:lnTo>
                <a:lnTo>
                  <a:pt x="0" y="1044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27606" y="7053232"/>
            <a:ext cx="2044427" cy="1784227"/>
          </a:xfrm>
          <a:custGeom>
            <a:avLst/>
            <a:gdLst/>
            <a:ahLst/>
            <a:cxnLst/>
            <a:rect r="r" b="b" t="t" l="l"/>
            <a:pathLst>
              <a:path h="1784227" w="2044427">
                <a:moveTo>
                  <a:pt x="0" y="0"/>
                </a:moveTo>
                <a:lnTo>
                  <a:pt x="2044427" y="0"/>
                </a:lnTo>
                <a:lnTo>
                  <a:pt x="2044427" y="1784228"/>
                </a:lnTo>
                <a:lnTo>
                  <a:pt x="0" y="17842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97277">
            <a:off x="15458667" y="2879733"/>
            <a:ext cx="1182688" cy="1953388"/>
          </a:xfrm>
          <a:custGeom>
            <a:avLst/>
            <a:gdLst/>
            <a:ahLst/>
            <a:cxnLst/>
            <a:rect r="r" b="b" t="t" l="l"/>
            <a:pathLst>
              <a:path h="1953388" w="1182688">
                <a:moveTo>
                  <a:pt x="0" y="0"/>
                </a:moveTo>
                <a:lnTo>
                  <a:pt x="1182687" y="0"/>
                </a:lnTo>
                <a:lnTo>
                  <a:pt x="1182687" y="1953388"/>
                </a:lnTo>
                <a:lnTo>
                  <a:pt x="0" y="19533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23152" y="6758018"/>
            <a:ext cx="2318529" cy="2374657"/>
          </a:xfrm>
          <a:custGeom>
            <a:avLst/>
            <a:gdLst/>
            <a:ahLst/>
            <a:cxnLst/>
            <a:rect r="r" b="b" t="t" l="l"/>
            <a:pathLst>
              <a:path h="2374657" w="2318529">
                <a:moveTo>
                  <a:pt x="0" y="0"/>
                </a:moveTo>
                <a:lnTo>
                  <a:pt x="2318529" y="0"/>
                </a:lnTo>
                <a:lnTo>
                  <a:pt x="2318529" y="2374657"/>
                </a:lnTo>
                <a:lnTo>
                  <a:pt x="0" y="23746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DAHVYeTKyJw</dc:identifier>
  <dcterms:modified xsi:type="dcterms:W3CDTF">2011-08-01T06:04:30Z</dcterms:modified>
  <cp:revision>1</cp:revision>
  <dc:title>SC2001 Slides</dc:title>
</cp:coreProperties>
</file>